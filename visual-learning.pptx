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3" r:id="rId2"/>
    <p:sldId id="260" r:id="rId3"/>
    <p:sldId id="256" r:id="rId4"/>
    <p:sldId id="257" r:id="rId5"/>
    <p:sldId id="258" r:id="rId6"/>
    <p:sldId id="259" r:id="rId7"/>
    <p:sldId id="261"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5" r:id="rId28"/>
    <p:sldId id="286" r:id="rId29"/>
    <p:sldId id="28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04D9F-14AE-FE5E-8E13-C5D9B21CEC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489337-4E07-D482-649A-829545FEAF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817207-B15F-9AEB-AF26-ED2ADF9596B8}"/>
              </a:ext>
            </a:extLst>
          </p:cNvPr>
          <p:cNvSpPr>
            <a:spLocks noGrp="1"/>
          </p:cNvSpPr>
          <p:nvPr>
            <p:ph type="dt" sz="half" idx="10"/>
          </p:nvPr>
        </p:nvSpPr>
        <p:spPr/>
        <p:txBody>
          <a:bodyPr/>
          <a:lstStyle/>
          <a:p>
            <a:fld id="{D1503111-A1F2-4F9E-9E1C-C03CB9D00AAE}" type="datetimeFigureOut">
              <a:rPr lang="en-US" smtClean="0"/>
              <a:t>12/24/2025</a:t>
            </a:fld>
            <a:endParaRPr lang="en-US"/>
          </a:p>
        </p:txBody>
      </p:sp>
      <p:sp>
        <p:nvSpPr>
          <p:cNvPr id="5" name="Footer Placeholder 4">
            <a:extLst>
              <a:ext uri="{FF2B5EF4-FFF2-40B4-BE49-F238E27FC236}">
                <a16:creationId xmlns:a16="http://schemas.microsoft.com/office/drawing/2014/main" id="{2FCB3D93-41EE-B0C3-7F5E-DD2629F788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B0EFC6-3C78-0114-A4D1-15C0872D7B1C}"/>
              </a:ext>
            </a:extLst>
          </p:cNvPr>
          <p:cNvSpPr>
            <a:spLocks noGrp="1"/>
          </p:cNvSpPr>
          <p:nvPr>
            <p:ph type="sldNum" sz="quarter" idx="12"/>
          </p:nvPr>
        </p:nvSpPr>
        <p:spPr/>
        <p:txBody>
          <a:bodyPr/>
          <a:lstStyle/>
          <a:p>
            <a:fld id="{28054AA5-C707-46DC-82B7-678F1CBA56F1}" type="slidenum">
              <a:rPr lang="en-US" smtClean="0"/>
              <a:t>‹#›</a:t>
            </a:fld>
            <a:endParaRPr lang="en-US"/>
          </a:p>
        </p:txBody>
      </p:sp>
    </p:spTree>
    <p:extLst>
      <p:ext uri="{BB962C8B-B14F-4D97-AF65-F5344CB8AC3E}">
        <p14:creationId xmlns:p14="http://schemas.microsoft.com/office/powerpoint/2010/main" val="2940638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57B94-70FE-6B51-9A68-95AB78DE3B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482B2-6B30-0420-300E-105FF70450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AF0C7A-D10F-9018-BD83-93B965E69B5F}"/>
              </a:ext>
            </a:extLst>
          </p:cNvPr>
          <p:cNvSpPr>
            <a:spLocks noGrp="1"/>
          </p:cNvSpPr>
          <p:nvPr>
            <p:ph type="dt" sz="half" idx="10"/>
          </p:nvPr>
        </p:nvSpPr>
        <p:spPr/>
        <p:txBody>
          <a:bodyPr/>
          <a:lstStyle/>
          <a:p>
            <a:fld id="{D1503111-A1F2-4F9E-9E1C-C03CB9D00AAE}" type="datetimeFigureOut">
              <a:rPr lang="en-US" smtClean="0"/>
              <a:t>12/24/2025</a:t>
            </a:fld>
            <a:endParaRPr lang="en-US"/>
          </a:p>
        </p:txBody>
      </p:sp>
      <p:sp>
        <p:nvSpPr>
          <p:cNvPr id="5" name="Footer Placeholder 4">
            <a:extLst>
              <a:ext uri="{FF2B5EF4-FFF2-40B4-BE49-F238E27FC236}">
                <a16:creationId xmlns:a16="http://schemas.microsoft.com/office/drawing/2014/main" id="{6EF7AB08-D975-E0EB-EB18-E3C43C54AD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412CBA-C0DF-C0AF-7048-260A90B4AA78}"/>
              </a:ext>
            </a:extLst>
          </p:cNvPr>
          <p:cNvSpPr>
            <a:spLocks noGrp="1"/>
          </p:cNvSpPr>
          <p:nvPr>
            <p:ph type="sldNum" sz="quarter" idx="12"/>
          </p:nvPr>
        </p:nvSpPr>
        <p:spPr/>
        <p:txBody>
          <a:bodyPr/>
          <a:lstStyle/>
          <a:p>
            <a:fld id="{28054AA5-C707-46DC-82B7-678F1CBA56F1}" type="slidenum">
              <a:rPr lang="en-US" smtClean="0"/>
              <a:t>‹#›</a:t>
            </a:fld>
            <a:endParaRPr lang="en-US"/>
          </a:p>
        </p:txBody>
      </p:sp>
    </p:spTree>
    <p:extLst>
      <p:ext uri="{BB962C8B-B14F-4D97-AF65-F5344CB8AC3E}">
        <p14:creationId xmlns:p14="http://schemas.microsoft.com/office/powerpoint/2010/main" val="165745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9AAE3-747A-722B-292A-E4DA2EC40B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15A72B-F6C4-6199-D257-4A2AFA0C85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429B79-05F1-99FB-D021-EF8E0CA47DE5}"/>
              </a:ext>
            </a:extLst>
          </p:cNvPr>
          <p:cNvSpPr>
            <a:spLocks noGrp="1"/>
          </p:cNvSpPr>
          <p:nvPr>
            <p:ph type="dt" sz="half" idx="10"/>
          </p:nvPr>
        </p:nvSpPr>
        <p:spPr/>
        <p:txBody>
          <a:bodyPr/>
          <a:lstStyle/>
          <a:p>
            <a:fld id="{D1503111-A1F2-4F9E-9E1C-C03CB9D00AAE}" type="datetimeFigureOut">
              <a:rPr lang="en-US" smtClean="0"/>
              <a:t>12/24/2025</a:t>
            </a:fld>
            <a:endParaRPr lang="en-US"/>
          </a:p>
        </p:txBody>
      </p:sp>
      <p:sp>
        <p:nvSpPr>
          <p:cNvPr id="5" name="Footer Placeholder 4">
            <a:extLst>
              <a:ext uri="{FF2B5EF4-FFF2-40B4-BE49-F238E27FC236}">
                <a16:creationId xmlns:a16="http://schemas.microsoft.com/office/drawing/2014/main" id="{BA8ED7E8-738A-B6D9-347A-05231EF79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E02DF5-AE97-5C5C-A6A0-D9CBDB1AC4D5}"/>
              </a:ext>
            </a:extLst>
          </p:cNvPr>
          <p:cNvSpPr>
            <a:spLocks noGrp="1"/>
          </p:cNvSpPr>
          <p:nvPr>
            <p:ph type="sldNum" sz="quarter" idx="12"/>
          </p:nvPr>
        </p:nvSpPr>
        <p:spPr/>
        <p:txBody>
          <a:bodyPr/>
          <a:lstStyle/>
          <a:p>
            <a:fld id="{28054AA5-C707-46DC-82B7-678F1CBA56F1}" type="slidenum">
              <a:rPr lang="en-US" smtClean="0"/>
              <a:t>‹#›</a:t>
            </a:fld>
            <a:endParaRPr lang="en-US"/>
          </a:p>
        </p:txBody>
      </p:sp>
    </p:spTree>
    <p:extLst>
      <p:ext uri="{BB962C8B-B14F-4D97-AF65-F5344CB8AC3E}">
        <p14:creationId xmlns:p14="http://schemas.microsoft.com/office/powerpoint/2010/main" val="3169404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88E49-BE79-855D-6131-2556A95A07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6A0CD8-FCEB-BC59-CD7D-BA442400AE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8B3521-642D-2311-577C-D27B4C1DE3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EA14D0-F439-8708-E4B7-75D944A15E30}"/>
              </a:ext>
            </a:extLst>
          </p:cNvPr>
          <p:cNvSpPr>
            <a:spLocks noGrp="1"/>
          </p:cNvSpPr>
          <p:nvPr>
            <p:ph type="dt" sz="half" idx="10"/>
          </p:nvPr>
        </p:nvSpPr>
        <p:spPr/>
        <p:txBody>
          <a:bodyPr/>
          <a:lstStyle/>
          <a:p>
            <a:fld id="{D1503111-A1F2-4F9E-9E1C-C03CB9D00AAE}" type="datetimeFigureOut">
              <a:rPr lang="en-US" smtClean="0"/>
              <a:t>12/24/2025</a:t>
            </a:fld>
            <a:endParaRPr lang="en-US"/>
          </a:p>
        </p:txBody>
      </p:sp>
      <p:sp>
        <p:nvSpPr>
          <p:cNvPr id="6" name="Footer Placeholder 5">
            <a:extLst>
              <a:ext uri="{FF2B5EF4-FFF2-40B4-BE49-F238E27FC236}">
                <a16:creationId xmlns:a16="http://schemas.microsoft.com/office/drawing/2014/main" id="{3E07C188-BECB-DF14-1739-4A999D4E47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2F634B-11FA-E018-BC3B-2C268AE421AE}"/>
              </a:ext>
            </a:extLst>
          </p:cNvPr>
          <p:cNvSpPr>
            <a:spLocks noGrp="1"/>
          </p:cNvSpPr>
          <p:nvPr>
            <p:ph type="sldNum" sz="quarter" idx="12"/>
          </p:nvPr>
        </p:nvSpPr>
        <p:spPr/>
        <p:txBody>
          <a:bodyPr/>
          <a:lstStyle/>
          <a:p>
            <a:fld id="{28054AA5-C707-46DC-82B7-678F1CBA56F1}" type="slidenum">
              <a:rPr lang="en-US" smtClean="0"/>
              <a:t>‹#›</a:t>
            </a:fld>
            <a:endParaRPr lang="en-US"/>
          </a:p>
        </p:txBody>
      </p:sp>
    </p:spTree>
    <p:extLst>
      <p:ext uri="{BB962C8B-B14F-4D97-AF65-F5344CB8AC3E}">
        <p14:creationId xmlns:p14="http://schemas.microsoft.com/office/powerpoint/2010/main" val="2152874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B1445-01F3-8B28-A65F-D5D4D5C61B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41D848-2FE5-BFB4-1288-7DC8119A3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85A7F1-6242-59A4-B7D6-440238473D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7A3C79-6A00-6B9C-8DBB-FC94FA3D31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317529-AD04-F794-4DB7-1793D3CFBF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938737-C7BD-BEE7-F655-947ABBFE37C7}"/>
              </a:ext>
            </a:extLst>
          </p:cNvPr>
          <p:cNvSpPr>
            <a:spLocks noGrp="1"/>
          </p:cNvSpPr>
          <p:nvPr>
            <p:ph type="dt" sz="half" idx="10"/>
          </p:nvPr>
        </p:nvSpPr>
        <p:spPr/>
        <p:txBody>
          <a:bodyPr/>
          <a:lstStyle/>
          <a:p>
            <a:fld id="{D1503111-A1F2-4F9E-9E1C-C03CB9D00AAE}" type="datetimeFigureOut">
              <a:rPr lang="en-US" smtClean="0"/>
              <a:t>12/24/2025</a:t>
            </a:fld>
            <a:endParaRPr lang="en-US"/>
          </a:p>
        </p:txBody>
      </p:sp>
      <p:sp>
        <p:nvSpPr>
          <p:cNvPr id="8" name="Footer Placeholder 7">
            <a:extLst>
              <a:ext uri="{FF2B5EF4-FFF2-40B4-BE49-F238E27FC236}">
                <a16:creationId xmlns:a16="http://schemas.microsoft.com/office/drawing/2014/main" id="{BD8D8B9B-7CBC-C430-DB9D-E0E0D2EFE3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7C1B5D-DD86-7EB4-BCE0-FC1C20D89333}"/>
              </a:ext>
            </a:extLst>
          </p:cNvPr>
          <p:cNvSpPr>
            <a:spLocks noGrp="1"/>
          </p:cNvSpPr>
          <p:nvPr>
            <p:ph type="sldNum" sz="quarter" idx="12"/>
          </p:nvPr>
        </p:nvSpPr>
        <p:spPr/>
        <p:txBody>
          <a:bodyPr/>
          <a:lstStyle/>
          <a:p>
            <a:fld id="{28054AA5-C707-46DC-82B7-678F1CBA56F1}" type="slidenum">
              <a:rPr lang="en-US" smtClean="0"/>
              <a:t>‹#›</a:t>
            </a:fld>
            <a:endParaRPr lang="en-US"/>
          </a:p>
        </p:txBody>
      </p:sp>
    </p:spTree>
    <p:extLst>
      <p:ext uri="{BB962C8B-B14F-4D97-AF65-F5344CB8AC3E}">
        <p14:creationId xmlns:p14="http://schemas.microsoft.com/office/powerpoint/2010/main" val="3484910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FE554-B6EC-A525-FDAD-137E7C23B48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874443-9410-E78C-F580-DD6E54262B35}"/>
              </a:ext>
            </a:extLst>
          </p:cNvPr>
          <p:cNvSpPr>
            <a:spLocks noGrp="1"/>
          </p:cNvSpPr>
          <p:nvPr>
            <p:ph type="dt" sz="half" idx="10"/>
          </p:nvPr>
        </p:nvSpPr>
        <p:spPr/>
        <p:txBody>
          <a:bodyPr/>
          <a:lstStyle/>
          <a:p>
            <a:fld id="{D1503111-A1F2-4F9E-9E1C-C03CB9D00AAE}" type="datetimeFigureOut">
              <a:rPr lang="en-US" smtClean="0"/>
              <a:t>12/24/2025</a:t>
            </a:fld>
            <a:endParaRPr lang="en-US"/>
          </a:p>
        </p:txBody>
      </p:sp>
      <p:sp>
        <p:nvSpPr>
          <p:cNvPr id="4" name="Footer Placeholder 3">
            <a:extLst>
              <a:ext uri="{FF2B5EF4-FFF2-40B4-BE49-F238E27FC236}">
                <a16:creationId xmlns:a16="http://schemas.microsoft.com/office/drawing/2014/main" id="{0DADC6C5-EA98-0557-D70A-6307DED294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6258BD1-357E-8CF6-09A8-208C01F2ABAC}"/>
              </a:ext>
            </a:extLst>
          </p:cNvPr>
          <p:cNvSpPr>
            <a:spLocks noGrp="1"/>
          </p:cNvSpPr>
          <p:nvPr>
            <p:ph type="sldNum" sz="quarter" idx="12"/>
          </p:nvPr>
        </p:nvSpPr>
        <p:spPr/>
        <p:txBody>
          <a:bodyPr/>
          <a:lstStyle/>
          <a:p>
            <a:fld id="{28054AA5-C707-46DC-82B7-678F1CBA56F1}" type="slidenum">
              <a:rPr lang="en-US" smtClean="0"/>
              <a:t>‹#›</a:t>
            </a:fld>
            <a:endParaRPr lang="en-US"/>
          </a:p>
        </p:txBody>
      </p:sp>
    </p:spTree>
    <p:extLst>
      <p:ext uri="{BB962C8B-B14F-4D97-AF65-F5344CB8AC3E}">
        <p14:creationId xmlns:p14="http://schemas.microsoft.com/office/powerpoint/2010/main" val="971530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B01987-BFCC-41B6-AC69-D6903DF15452}"/>
              </a:ext>
            </a:extLst>
          </p:cNvPr>
          <p:cNvSpPr>
            <a:spLocks noGrp="1"/>
          </p:cNvSpPr>
          <p:nvPr>
            <p:ph type="dt" sz="half" idx="10"/>
          </p:nvPr>
        </p:nvSpPr>
        <p:spPr/>
        <p:txBody>
          <a:bodyPr/>
          <a:lstStyle/>
          <a:p>
            <a:fld id="{D1503111-A1F2-4F9E-9E1C-C03CB9D00AAE}" type="datetimeFigureOut">
              <a:rPr lang="en-US" smtClean="0"/>
              <a:t>12/24/2025</a:t>
            </a:fld>
            <a:endParaRPr lang="en-US"/>
          </a:p>
        </p:txBody>
      </p:sp>
      <p:sp>
        <p:nvSpPr>
          <p:cNvPr id="3" name="Footer Placeholder 2">
            <a:extLst>
              <a:ext uri="{FF2B5EF4-FFF2-40B4-BE49-F238E27FC236}">
                <a16:creationId xmlns:a16="http://schemas.microsoft.com/office/drawing/2014/main" id="{E1A95C01-9480-D722-04FD-B7BEF12350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9D4DB6-C08E-3E1F-94EB-B6BA66B0F1A5}"/>
              </a:ext>
            </a:extLst>
          </p:cNvPr>
          <p:cNvSpPr>
            <a:spLocks noGrp="1"/>
          </p:cNvSpPr>
          <p:nvPr>
            <p:ph type="sldNum" sz="quarter" idx="12"/>
          </p:nvPr>
        </p:nvSpPr>
        <p:spPr/>
        <p:txBody>
          <a:bodyPr/>
          <a:lstStyle/>
          <a:p>
            <a:fld id="{28054AA5-C707-46DC-82B7-678F1CBA56F1}" type="slidenum">
              <a:rPr lang="en-US" smtClean="0"/>
              <a:t>‹#›</a:t>
            </a:fld>
            <a:endParaRPr lang="en-US"/>
          </a:p>
        </p:txBody>
      </p:sp>
    </p:spTree>
    <p:extLst>
      <p:ext uri="{BB962C8B-B14F-4D97-AF65-F5344CB8AC3E}">
        <p14:creationId xmlns:p14="http://schemas.microsoft.com/office/powerpoint/2010/main" val="4069843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9329E-B4D5-4106-6FB0-1E1261BBF8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6A7A60-67CE-A839-D324-58BC4D46FC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42ED2F-6F6F-3773-CAAF-D382326E64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474489-E5D5-7C52-70EC-109539BCCCAD}"/>
              </a:ext>
            </a:extLst>
          </p:cNvPr>
          <p:cNvSpPr>
            <a:spLocks noGrp="1"/>
          </p:cNvSpPr>
          <p:nvPr>
            <p:ph type="dt" sz="half" idx="10"/>
          </p:nvPr>
        </p:nvSpPr>
        <p:spPr/>
        <p:txBody>
          <a:bodyPr/>
          <a:lstStyle/>
          <a:p>
            <a:fld id="{D1503111-A1F2-4F9E-9E1C-C03CB9D00AAE}" type="datetimeFigureOut">
              <a:rPr lang="en-US" smtClean="0"/>
              <a:t>12/24/2025</a:t>
            </a:fld>
            <a:endParaRPr lang="en-US"/>
          </a:p>
        </p:txBody>
      </p:sp>
      <p:sp>
        <p:nvSpPr>
          <p:cNvPr id="6" name="Footer Placeholder 5">
            <a:extLst>
              <a:ext uri="{FF2B5EF4-FFF2-40B4-BE49-F238E27FC236}">
                <a16:creationId xmlns:a16="http://schemas.microsoft.com/office/drawing/2014/main" id="{EDD9692A-9B30-A5D3-D13C-87590CFF97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84B95E-B9FE-7E95-2736-6019053ED5E2}"/>
              </a:ext>
            </a:extLst>
          </p:cNvPr>
          <p:cNvSpPr>
            <a:spLocks noGrp="1"/>
          </p:cNvSpPr>
          <p:nvPr>
            <p:ph type="sldNum" sz="quarter" idx="12"/>
          </p:nvPr>
        </p:nvSpPr>
        <p:spPr/>
        <p:txBody>
          <a:bodyPr/>
          <a:lstStyle/>
          <a:p>
            <a:fld id="{28054AA5-C707-46DC-82B7-678F1CBA56F1}" type="slidenum">
              <a:rPr lang="en-US" smtClean="0"/>
              <a:t>‹#›</a:t>
            </a:fld>
            <a:endParaRPr lang="en-US"/>
          </a:p>
        </p:txBody>
      </p:sp>
    </p:spTree>
    <p:extLst>
      <p:ext uri="{BB962C8B-B14F-4D97-AF65-F5344CB8AC3E}">
        <p14:creationId xmlns:p14="http://schemas.microsoft.com/office/powerpoint/2010/main" val="2019823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BD180-A96A-F95D-FF44-7FEB5704B9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B20C3F4-DD8F-D895-4F16-384E56C3CF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C83E11-5B72-083C-23F2-99F524FE70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A185A6-0489-25E5-6AA1-E0710E9BCD74}"/>
              </a:ext>
            </a:extLst>
          </p:cNvPr>
          <p:cNvSpPr>
            <a:spLocks noGrp="1"/>
          </p:cNvSpPr>
          <p:nvPr>
            <p:ph type="dt" sz="half" idx="10"/>
          </p:nvPr>
        </p:nvSpPr>
        <p:spPr/>
        <p:txBody>
          <a:bodyPr/>
          <a:lstStyle/>
          <a:p>
            <a:fld id="{D1503111-A1F2-4F9E-9E1C-C03CB9D00AAE}" type="datetimeFigureOut">
              <a:rPr lang="en-US" smtClean="0"/>
              <a:t>12/24/2025</a:t>
            </a:fld>
            <a:endParaRPr lang="en-US"/>
          </a:p>
        </p:txBody>
      </p:sp>
      <p:sp>
        <p:nvSpPr>
          <p:cNvPr id="6" name="Footer Placeholder 5">
            <a:extLst>
              <a:ext uri="{FF2B5EF4-FFF2-40B4-BE49-F238E27FC236}">
                <a16:creationId xmlns:a16="http://schemas.microsoft.com/office/drawing/2014/main" id="{D8084628-F3B5-C502-E59A-1DB64980C8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EBF117-B994-553B-62A0-3B741AEE46C5}"/>
              </a:ext>
            </a:extLst>
          </p:cNvPr>
          <p:cNvSpPr>
            <a:spLocks noGrp="1"/>
          </p:cNvSpPr>
          <p:nvPr>
            <p:ph type="sldNum" sz="quarter" idx="12"/>
          </p:nvPr>
        </p:nvSpPr>
        <p:spPr/>
        <p:txBody>
          <a:bodyPr/>
          <a:lstStyle/>
          <a:p>
            <a:fld id="{28054AA5-C707-46DC-82B7-678F1CBA56F1}" type="slidenum">
              <a:rPr lang="en-US" smtClean="0"/>
              <a:t>‹#›</a:t>
            </a:fld>
            <a:endParaRPr lang="en-US"/>
          </a:p>
        </p:txBody>
      </p:sp>
    </p:spTree>
    <p:extLst>
      <p:ext uri="{BB962C8B-B14F-4D97-AF65-F5344CB8AC3E}">
        <p14:creationId xmlns:p14="http://schemas.microsoft.com/office/powerpoint/2010/main" val="3615813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736FE-1F83-8559-6AAF-42BB009E6F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C31CD5-20CD-FE5F-0B2A-79C8C6AF24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56965F-C0A9-CD23-B5DC-7A8F9EE8E8F3}"/>
              </a:ext>
            </a:extLst>
          </p:cNvPr>
          <p:cNvSpPr>
            <a:spLocks noGrp="1"/>
          </p:cNvSpPr>
          <p:nvPr>
            <p:ph type="dt" sz="half" idx="10"/>
          </p:nvPr>
        </p:nvSpPr>
        <p:spPr/>
        <p:txBody>
          <a:bodyPr/>
          <a:lstStyle/>
          <a:p>
            <a:fld id="{D1503111-A1F2-4F9E-9E1C-C03CB9D00AAE}" type="datetimeFigureOut">
              <a:rPr lang="en-US" smtClean="0"/>
              <a:t>12/24/2025</a:t>
            </a:fld>
            <a:endParaRPr lang="en-US"/>
          </a:p>
        </p:txBody>
      </p:sp>
      <p:sp>
        <p:nvSpPr>
          <p:cNvPr id="5" name="Footer Placeholder 4">
            <a:extLst>
              <a:ext uri="{FF2B5EF4-FFF2-40B4-BE49-F238E27FC236}">
                <a16:creationId xmlns:a16="http://schemas.microsoft.com/office/drawing/2014/main" id="{0C343646-1401-56E3-B55F-E7B20813A9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57D75-7C0A-2AB0-D0CA-BF9E9259C7D1}"/>
              </a:ext>
            </a:extLst>
          </p:cNvPr>
          <p:cNvSpPr>
            <a:spLocks noGrp="1"/>
          </p:cNvSpPr>
          <p:nvPr>
            <p:ph type="sldNum" sz="quarter" idx="12"/>
          </p:nvPr>
        </p:nvSpPr>
        <p:spPr/>
        <p:txBody>
          <a:bodyPr/>
          <a:lstStyle/>
          <a:p>
            <a:fld id="{28054AA5-C707-46DC-82B7-678F1CBA56F1}" type="slidenum">
              <a:rPr lang="en-US" smtClean="0"/>
              <a:t>‹#›</a:t>
            </a:fld>
            <a:endParaRPr lang="en-US"/>
          </a:p>
        </p:txBody>
      </p:sp>
    </p:spTree>
    <p:extLst>
      <p:ext uri="{BB962C8B-B14F-4D97-AF65-F5344CB8AC3E}">
        <p14:creationId xmlns:p14="http://schemas.microsoft.com/office/powerpoint/2010/main" val="3935575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5D8060-9E29-BBF2-6D31-EB7D77BF60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A59032-A478-6003-5CFB-8357BE4692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5AABEA-4FF1-6750-01E1-939C79DE985C}"/>
              </a:ext>
            </a:extLst>
          </p:cNvPr>
          <p:cNvSpPr>
            <a:spLocks noGrp="1"/>
          </p:cNvSpPr>
          <p:nvPr>
            <p:ph type="dt" sz="half" idx="10"/>
          </p:nvPr>
        </p:nvSpPr>
        <p:spPr/>
        <p:txBody>
          <a:bodyPr/>
          <a:lstStyle/>
          <a:p>
            <a:fld id="{D1503111-A1F2-4F9E-9E1C-C03CB9D00AAE}" type="datetimeFigureOut">
              <a:rPr lang="en-US" smtClean="0"/>
              <a:t>12/24/2025</a:t>
            </a:fld>
            <a:endParaRPr lang="en-US"/>
          </a:p>
        </p:txBody>
      </p:sp>
      <p:sp>
        <p:nvSpPr>
          <p:cNvPr id="5" name="Footer Placeholder 4">
            <a:extLst>
              <a:ext uri="{FF2B5EF4-FFF2-40B4-BE49-F238E27FC236}">
                <a16:creationId xmlns:a16="http://schemas.microsoft.com/office/drawing/2014/main" id="{30543523-D8B9-9937-6A9E-DDC11DD056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9FFBD7-10A0-61ED-EB75-2DF2251AF2AA}"/>
              </a:ext>
            </a:extLst>
          </p:cNvPr>
          <p:cNvSpPr>
            <a:spLocks noGrp="1"/>
          </p:cNvSpPr>
          <p:nvPr>
            <p:ph type="sldNum" sz="quarter" idx="12"/>
          </p:nvPr>
        </p:nvSpPr>
        <p:spPr/>
        <p:txBody>
          <a:bodyPr/>
          <a:lstStyle/>
          <a:p>
            <a:fld id="{28054AA5-C707-46DC-82B7-678F1CBA56F1}" type="slidenum">
              <a:rPr lang="en-US" smtClean="0"/>
              <a:t>‹#›</a:t>
            </a:fld>
            <a:endParaRPr lang="en-US"/>
          </a:p>
        </p:txBody>
      </p:sp>
    </p:spTree>
    <p:extLst>
      <p:ext uri="{BB962C8B-B14F-4D97-AF65-F5344CB8AC3E}">
        <p14:creationId xmlns:p14="http://schemas.microsoft.com/office/powerpoint/2010/main" val="933251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6669D4-C190-9DC0-F721-711BD46E82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71EEED-1F8D-8A4C-F829-164232E5BA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D7C233-9D77-C6AE-BA44-19B6F6E6C9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503111-A1F2-4F9E-9E1C-C03CB9D00AAE}" type="datetimeFigureOut">
              <a:rPr lang="en-US" smtClean="0"/>
              <a:t>12/24/2025</a:t>
            </a:fld>
            <a:endParaRPr lang="en-US"/>
          </a:p>
        </p:txBody>
      </p:sp>
      <p:sp>
        <p:nvSpPr>
          <p:cNvPr id="5" name="Footer Placeholder 4">
            <a:extLst>
              <a:ext uri="{FF2B5EF4-FFF2-40B4-BE49-F238E27FC236}">
                <a16:creationId xmlns:a16="http://schemas.microsoft.com/office/drawing/2014/main" id="{6B7D6E8E-C011-D302-3D9F-C90C5221E9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57F7E2-627E-5B15-7FDF-F04F6BD94E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054AA5-C707-46DC-82B7-678F1CBA56F1}" type="slidenum">
              <a:rPr lang="en-US" smtClean="0"/>
              <a:t>‹#›</a:t>
            </a:fld>
            <a:endParaRPr lang="en-US"/>
          </a:p>
        </p:txBody>
      </p:sp>
    </p:spTree>
    <p:extLst>
      <p:ext uri="{BB962C8B-B14F-4D97-AF65-F5344CB8AC3E}">
        <p14:creationId xmlns:p14="http://schemas.microsoft.com/office/powerpoint/2010/main" val="38272471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636CF-9453-6DA2-8AE8-2FA3A41DFBC8}"/>
              </a:ext>
            </a:extLst>
          </p:cNvPr>
          <p:cNvSpPr>
            <a:spLocks noGrp="1"/>
          </p:cNvSpPr>
          <p:nvPr>
            <p:ph type="title"/>
          </p:nvPr>
        </p:nvSpPr>
        <p:spPr/>
        <p:txBody>
          <a:bodyPr/>
          <a:lstStyle/>
          <a:p>
            <a:r>
              <a:rPr lang="en-US" b="1" dirty="0"/>
              <a:t> Note: Scope of This Demonstration</a:t>
            </a:r>
          </a:p>
        </p:txBody>
      </p:sp>
      <p:sp>
        <p:nvSpPr>
          <p:cNvPr id="9" name="TextBox 8">
            <a:extLst>
              <a:ext uri="{FF2B5EF4-FFF2-40B4-BE49-F238E27FC236}">
                <a16:creationId xmlns:a16="http://schemas.microsoft.com/office/drawing/2014/main" id="{E4498FDF-7145-A879-65B4-B930DD87AE4E}"/>
              </a:ext>
            </a:extLst>
          </p:cNvPr>
          <p:cNvSpPr txBox="1"/>
          <p:nvPr/>
        </p:nvSpPr>
        <p:spPr>
          <a:xfrm>
            <a:off x="770382" y="2535824"/>
            <a:ext cx="10583418" cy="2138149"/>
          </a:xfrm>
          <a:prstGeom prst="rect">
            <a:avLst/>
          </a:prstGeom>
          <a:noFill/>
        </p:spPr>
        <p:txBody>
          <a:bodyPr wrap="square">
            <a:spAutoFit/>
          </a:bodyPr>
          <a:lstStyle/>
          <a:p>
            <a:pPr algn="l">
              <a:lnSpc>
                <a:spcPts val="1500"/>
              </a:lnSpc>
              <a:spcAft>
                <a:spcPts val="225"/>
              </a:spcAft>
              <a:buFont typeface="Arial" panose="020B0604020202020204" pitchFamily="34" charset="0"/>
              <a:buChar char="•"/>
            </a:pPr>
            <a:r>
              <a:rPr lang="en-US" sz="2000" i="0" dirty="0">
                <a:effectLst/>
                <a:latin typeface="Inter"/>
              </a:rPr>
              <a:t>The Full Output: The "Visually" model is designed to generate a dual output: a Scientific Visualization alongside a Textual Explanation that interprets the visual for the user.</a:t>
            </a:r>
          </a:p>
          <a:p>
            <a:pPr algn="l">
              <a:lnSpc>
                <a:spcPts val="1500"/>
              </a:lnSpc>
              <a:spcAft>
                <a:spcPts val="225"/>
              </a:spcAft>
              <a:buFont typeface="Arial" panose="020B0604020202020204" pitchFamily="34" charset="0"/>
              <a:buChar char="•"/>
            </a:pPr>
            <a:endParaRPr lang="en-US" sz="2000" i="0" dirty="0">
              <a:effectLst/>
              <a:latin typeface="Inter"/>
            </a:endParaRPr>
          </a:p>
          <a:p>
            <a:pPr algn="l">
              <a:lnSpc>
                <a:spcPts val="1500"/>
              </a:lnSpc>
              <a:spcAft>
                <a:spcPts val="225"/>
              </a:spcAft>
              <a:buFont typeface="Arial" panose="020B0604020202020204" pitchFamily="34" charset="0"/>
              <a:buChar char="•"/>
            </a:pPr>
            <a:r>
              <a:rPr lang="en-US" sz="2000" i="0" dirty="0">
                <a:effectLst/>
                <a:latin typeface="Inter"/>
              </a:rPr>
              <a:t>The Presentation Focus: For this presentation, we have intentionally omitted the text explanations from the slides.</a:t>
            </a:r>
          </a:p>
          <a:p>
            <a:pPr algn="l">
              <a:lnSpc>
                <a:spcPts val="1500"/>
              </a:lnSpc>
              <a:spcAft>
                <a:spcPts val="225"/>
              </a:spcAft>
              <a:buFont typeface="Arial" panose="020B0604020202020204" pitchFamily="34" charset="0"/>
              <a:buChar char="•"/>
            </a:pPr>
            <a:endParaRPr lang="en-US" sz="2000" i="0" dirty="0">
              <a:effectLst/>
              <a:latin typeface="Inter"/>
            </a:endParaRPr>
          </a:p>
          <a:p>
            <a:pPr algn="l">
              <a:lnSpc>
                <a:spcPts val="1500"/>
              </a:lnSpc>
              <a:spcAft>
                <a:spcPts val="225"/>
              </a:spcAft>
              <a:buFont typeface="Arial" panose="020B0604020202020204" pitchFamily="34" charset="0"/>
              <a:buChar char="•"/>
            </a:pPr>
            <a:r>
              <a:rPr lang="en-US" sz="2000" i="0" dirty="0">
                <a:effectLst/>
                <a:latin typeface="Inter"/>
              </a:rPr>
              <a:t>Reasoning: Large Language Models (LLMs) are already proven at generating text. The primary challenge—and the core innovation of this project—is the Visual Engine. We isolated the visuals here to strictly audit the model's ability to generate accurate, mathematical, and structural diagrams solely from natural language prompts.</a:t>
            </a:r>
          </a:p>
        </p:txBody>
      </p:sp>
    </p:spTree>
    <p:extLst>
      <p:ext uri="{BB962C8B-B14F-4D97-AF65-F5344CB8AC3E}">
        <p14:creationId xmlns:p14="http://schemas.microsoft.com/office/powerpoint/2010/main" val="2612045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26835-FFCC-7C9F-DF9C-8D22263FC033}"/>
              </a:ext>
            </a:extLst>
          </p:cNvPr>
          <p:cNvSpPr>
            <a:spLocks noGrp="1"/>
          </p:cNvSpPr>
          <p:nvPr>
            <p:ph type="title"/>
          </p:nvPr>
        </p:nvSpPr>
        <p:spPr/>
        <p:txBody>
          <a:bodyPr/>
          <a:lstStyle/>
          <a:p>
            <a:r>
              <a:rPr lang="en-US" b="1" dirty="0"/>
              <a:t>PHYSICS</a:t>
            </a:r>
          </a:p>
        </p:txBody>
      </p:sp>
    </p:spTree>
    <p:extLst>
      <p:ext uri="{BB962C8B-B14F-4D97-AF65-F5344CB8AC3E}">
        <p14:creationId xmlns:p14="http://schemas.microsoft.com/office/powerpoint/2010/main" val="3707005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70FCCAA-88DB-D584-68A4-24C17B49CB83}"/>
              </a:ext>
            </a:extLst>
          </p:cNvPr>
          <p:cNvSpPr txBox="1"/>
          <p:nvPr/>
        </p:nvSpPr>
        <p:spPr>
          <a:xfrm>
            <a:off x="141992" y="617831"/>
            <a:ext cx="11908015" cy="923330"/>
          </a:xfrm>
          <a:prstGeom prst="rect">
            <a:avLst/>
          </a:prstGeom>
          <a:noFill/>
        </p:spPr>
        <p:txBody>
          <a:bodyPr wrap="square" rtlCol="0">
            <a:spAutoFit/>
          </a:bodyPr>
          <a:lstStyle/>
          <a:p>
            <a:r>
              <a:rPr lang="en-US" dirty="0"/>
              <a:t>User Query: Draw a free body diagram for a block sliding UP a rough incline angled at 30 degrees. Include Kinetic Friction, Normal Force, and Gravity components</a:t>
            </a:r>
          </a:p>
          <a:p>
            <a:endParaRPr lang="en-US" dirty="0"/>
          </a:p>
        </p:txBody>
      </p:sp>
      <p:sp>
        <p:nvSpPr>
          <p:cNvPr id="5" name="TextBox 4">
            <a:extLst>
              <a:ext uri="{FF2B5EF4-FFF2-40B4-BE49-F238E27FC236}">
                <a16:creationId xmlns:a16="http://schemas.microsoft.com/office/drawing/2014/main" id="{B7825901-332F-E30C-A7EF-0F8D5C366086}"/>
              </a:ext>
            </a:extLst>
          </p:cNvPr>
          <p:cNvSpPr txBox="1"/>
          <p:nvPr/>
        </p:nvSpPr>
        <p:spPr>
          <a:xfrm>
            <a:off x="141992" y="2122715"/>
            <a:ext cx="2592064" cy="4801314"/>
          </a:xfrm>
          <a:prstGeom prst="rect">
            <a:avLst/>
          </a:prstGeom>
          <a:noFill/>
        </p:spPr>
        <p:txBody>
          <a:bodyPr wrap="square" rtlCol="0">
            <a:spAutoFit/>
          </a:bodyPr>
          <a:lstStyle/>
          <a:p>
            <a:r>
              <a:rPr lang="en-US" dirty="0"/>
              <a:t>Model Response:</a:t>
            </a:r>
          </a:p>
          <a:p>
            <a:r>
              <a:rPr lang="en-US" dirty="0"/>
              <a:t>This Free Body Diagram illustrates the forces acting on a block moving up a 30-degree incline. The kinetic friction force and the gravitational component ($mg \sin \theta$) both act down the slope, opposing the upward velocity, while the normal force balances the perpendicular gravitational component ($mg \cos \theta$). </a:t>
            </a:r>
            <a:br>
              <a:rPr lang="en-US" dirty="0"/>
            </a:br>
            <a:endParaRPr lang="en-US" dirty="0"/>
          </a:p>
        </p:txBody>
      </p:sp>
      <p:pic>
        <p:nvPicPr>
          <p:cNvPr id="1026" name="Picture 2">
            <a:extLst>
              <a:ext uri="{FF2B5EF4-FFF2-40B4-BE49-F238E27FC236}">
                <a16:creationId xmlns:a16="http://schemas.microsoft.com/office/drawing/2014/main" id="{1EB22592-CFE0-5BF9-1A4B-160D6B47C0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4056" y="1650888"/>
            <a:ext cx="7470648" cy="5123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8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FED6A-B898-2E1B-211D-EE7ACE59AB0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F7E2153-13AD-EBB1-5B15-EF601AF85AD9}"/>
              </a:ext>
            </a:extLst>
          </p:cNvPr>
          <p:cNvSpPr txBox="1"/>
          <p:nvPr/>
        </p:nvSpPr>
        <p:spPr>
          <a:xfrm>
            <a:off x="141992" y="617831"/>
            <a:ext cx="11908015" cy="923330"/>
          </a:xfrm>
          <a:prstGeom prst="rect">
            <a:avLst/>
          </a:prstGeom>
          <a:noFill/>
        </p:spPr>
        <p:txBody>
          <a:bodyPr wrap="square" rtlCol="0">
            <a:spAutoFit/>
          </a:bodyPr>
          <a:lstStyle/>
          <a:p>
            <a:r>
              <a:rPr lang="en-US" dirty="0"/>
              <a:t>User Query: Visualize the velocity vectors of a projectile at launch, at the very top of its arc, and just before hitting the ground. Decompose the vectors into horizontal (</a:t>
            </a:r>
            <a:r>
              <a:rPr lang="en-US" dirty="0" err="1"/>
              <a:t>vx</a:t>
            </a:r>
            <a:r>
              <a:rPr lang="en-US" dirty="0"/>
              <a:t>) and vertical (</a:t>
            </a:r>
            <a:r>
              <a:rPr lang="en-US" dirty="0" err="1"/>
              <a:t>vy</a:t>
            </a:r>
            <a:r>
              <a:rPr lang="en-US" dirty="0"/>
              <a:t>) components</a:t>
            </a:r>
          </a:p>
          <a:p>
            <a:endParaRPr lang="en-US" dirty="0"/>
          </a:p>
        </p:txBody>
      </p:sp>
      <p:sp>
        <p:nvSpPr>
          <p:cNvPr id="5" name="TextBox 4">
            <a:extLst>
              <a:ext uri="{FF2B5EF4-FFF2-40B4-BE49-F238E27FC236}">
                <a16:creationId xmlns:a16="http://schemas.microsoft.com/office/drawing/2014/main" id="{C687F5CC-762F-0B09-FEE8-79AA12B929C6}"/>
              </a:ext>
            </a:extLst>
          </p:cNvPr>
          <p:cNvSpPr txBox="1"/>
          <p:nvPr/>
        </p:nvSpPr>
        <p:spPr>
          <a:xfrm>
            <a:off x="141992" y="2122715"/>
            <a:ext cx="3140704" cy="3693319"/>
          </a:xfrm>
          <a:prstGeom prst="rect">
            <a:avLst/>
          </a:prstGeom>
          <a:noFill/>
        </p:spPr>
        <p:txBody>
          <a:bodyPr wrap="square" rtlCol="0">
            <a:spAutoFit/>
          </a:bodyPr>
          <a:lstStyle/>
          <a:p>
            <a:r>
              <a:rPr lang="en-US" dirty="0"/>
              <a:t>Model Response:</a:t>
            </a:r>
          </a:p>
          <a:p>
            <a:r>
              <a:rPr lang="en-US" dirty="0"/>
              <a:t>This visualization illustrates the kinematic principle that horizontal velocity remains constant in ideal projectile motion, while vertical velocity varies linearly due to gravitational acceleration. The decomposition highlights that at the apex, the vertical velocity component is zero, leaving only the horizontal component. </a:t>
            </a:r>
          </a:p>
        </p:txBody>
      </p:sp>
      <p:pic>
        <p:nvPicPr>
          <p:cNvPr id="2050" name="Picture 2">
            <a:extLst>
              <a:ext uri="{FF2B5EF4-FFF2-40B4-BE49-F238E27FC236}">
                <a16:creationId xmlns:a16="http://schemas.microsoft.com/office/drawing/2014/main" id="{B4CE2BBA-B55D-4BDB-5D2B-4E2DA9FA26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2464" y="1368743"/>
            <a:ext cx="8337543" cy="4943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4717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DAFAF-7777-6028-69C0-356966FB4B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FF5986-4D6D-323A-9583-DCD6079DC216}"/>
              </a:ext>
            </a:extLst>
          </p:cNvPr>
          <p:cNvSpPr txBox="1"/>
          <p:nvPr/>
        </p:nvSpPr>
        <p:spPr>
          <a:xfrm>
            <a:off x="141992" y="617831"/>
            <a:ext cx="11908015" cy="923330"/>
          </a:xfrm>
          <a:prstGeom prst="rect">
            <a:avLst/>
          </a:prstGeom>
          <a:noFill/>
        </p:spPr>
        <p:txBody>
          <a:bodyPr wrap="square" rtlCol="0">
            <a:spAutoFit/>
          </a:bodyPr>
          <a:lstStyle/>
          <a:p>
            <a:r>
              <a:rPr lang="en-US" dirty="0"/>
              <a:t>User Query: Visualize a straight wire carrying current flowing along the +X axis, sitting in a magnetic field pointing along the +Y axis. Show the direction of the resulting Magnetic Force.</a:t>
            </a:r>
          </a:p>
          <a:p>
            <a:endParaRPr lang="en-US" dirty="0"/>
          </a:p>
        </p:txBody>
      </p:sp>
      <p:sp>
        <p:nvSpPr>
          <p:cNvPr id="5" name="TextBox 4">
            <a:extLst>
              <a:ext uri="{FF2B5EF4-FFF2-40B4-BE49-F238E27FC236}">
                <a16:creationId xmlns:a16="http://schemas.microsoft.com/office/drawing/2014/main" id="{8DE2E7C9-5EFD-F2BD-1BE5-BAA216A06810}"/>
              </a:ext>
            </a:extLst>
          </p:cNvPr>
          <p:cNvSpPr txBox="1"/>
          <p:nvPr/>
        </p:nvSpPr>
        <p:spPr>
          <a:xfrm>
            <a:off x="141992" y="2122715"/>
            <a:ext cx="3515608" cy="3416320"/>
          </a:xfrm>
          <a:prstGeom prst="rect">
            <a:avLst/>
          </a:prstGeom>
          <a:noFill/>
        </p:spPr>
        <p:txBody>
          <a:bodyPr wrap="square" rtlCol="0">
            <a:spAutoFit/>
          </a:bodyPr>
          <a:lstStyle/>
          <a:p>
            <a:r>
              <a:rPr lang="en-US" dirty="0"/>
              <a:t>Model Response:</a:t>
            </a:r>
          </a:p>
          <a:p>
            <a:r>
              <a:rPr lang="en-US" dirty="0"/>
              <a:t>This visualization illustrates the Lorentz force law for a current-carrying conductor in a uniform magnetic field. By placing the current along the x-axis and the magnetic field along the y-axis, the cross product result (I L x B) yields a force vector pointing strictly in the positive z-direction according to the right-hand rule. </a:t>
            </a:r>
            <a:br>
              <a:rPr lang="en-US" dirty="0"/>
            </a:br>
            <a:endParaRPr lang="en-US" dirty="0"/>
          </a:p>
        </p:txBody>
      </p:sp>
      <p:pic>
        <p:nvPicPr>
          <p:cNvPr id="3076" name="Picture 4">
            <a:extLst>
              <a:ext uri="{FF2B5EF4-FFF2-40B4-BE49-F238E27FC236}">
                <a16:creationId xmlns:a16="http://schemas.microsoft.com/office/drawing/2014/main" id="{8EFA4BAA-BD24-A7C0-2201-29CBAA1F28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9944" y="996695"/>
            <a:ext cx="5102352" cy="5521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580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9B86-8570-CA5D-FC02-68A5FA318E5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A2726FD-FB86-45D1-7A5B-E9B586078047}"/>
              </a:ext>
            </a:extLst>
          </p:cNvPr>
          <p:cNvSpPr txBox="1"/>
          <p:nvPr/>
        </p:nvSpPr>
        <p:spPr>
          <a:xfrm>
            <a:off x="141992" y="617831"/>
            <a:ext cx="11908015" cy="923330"/>
          </a:xfrm>
          <a:prstGeom prst="rect">
            <a:avLst/>
          </a:prstGeom>
          <a:noFill/>
        </p:spPr>
        <p:txBody>
          <a:bodyPr wrap="square" rtlCol="0">
            <a:spAutoFit/>
          </a:bodyPr>
          <a:lstStyle/>
          <a:p>
            <a:r>
              <a:rPr lang="en-US" dirty="0"/>
              <a:t>User Query: Draw a ray diagram for a converging lens where the object is placed between the focal point and the lens. Show the formation of the image.</a:t>
            </a:r>
          </a:p>
          <a:p>
            <a:endParaRPr lang="en-US" dirty="0"/>
          </a:p>
        </p:txBody>
      </p:sp>
      <p:sp>
        <p:nvSpPr>
          <p:cNvPr id="5" name="TextBox 4">
            <a:extLst>
              <a:ext uri="{FF2B5EF4-FFF2-40B4-BE49-F238E27FC236}">
                <a16:creationId xmlns:a16="http://schemas.microsoft.com/office/drawing/2014/main" id="{9B852DA5-0D18-2F33-C519-1835B61DA57B}"/>
              </a:ext>
            </a:extLst>
          </p:cNvPr>
          <p:cNvSpPr txBox="1"/>
          <p:nvPr/>
        </p:nvSpPr>
        <p:spPr>
          <a:xfrm>
            <a:off x="141992" y="2122715"/>
            <a:ext cx="3387592" cy="3416320"/>
          </a:xfrm>
          <a:prstGeom prst="rect">
            <a:avLst/>
          </a:prstGeom>
          <a:noFill/>
        </p:spPr>
        <p:txBody>
          <a:bodyPr wrap="square" rtlCol="0">
            <a:spAutoFit/>
          </a:bodyPr>
          <a:lstStyle/>
          <a:p>
            <a:r>
              <a:rPr lang="en-US" dirty="0"/>
              <a:t>Model Response:</a:t>
            </a:r>
          </a:p>
          <a:p>
            <a:r>
              <a:rPr lang="en-US" dirty="0"/>
              <a:t>This diagram illustrates the formation of a virtual image using a converging lens. When an object is placed within the focal length, the refracted rays diverge on the exit side; their backward projections intersect to form an upright, magnified, and virtual image on the same side as the object. </a:t>
            </a:r>
            <a:br>
              <a:rPr lang="en-US" dirty="0"/>
            </a:br>
            <a:endParaRPr lang="en-US" dirty="0"/>
          </a:p>
        </p:txBody>
      </p:sp>
      <p:pic>
        <p:nvPicPr>
          <p:cNvPr id="4098" name="Picture 2">
            <a:extLst>
              <a:ext uri="{FF2B5EF4-FFF2-40B4-BE49-F238E27FC236}">
                <a16:creationId xmlns:a16="http://schemas.microsoft.com/office/drawing/2014/main" id="{A7A3EBB9-B3A5-BD44-CAE0-AA24B054C1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8287" y="1289303"/>
            <a:ext cx="6650737" cy="5356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8462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4DC7B-8D3F-F269-6F3D-E5CC63B8A1F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5E18020-A9A8-7435-6EB4-891E24F8E84D}"/>
              </a:ext>
            </a:extLst>
          </p:cNvPr>
          <p:cNvSpPr txBox="1"/>
          <p:nvPr/>
        </p:nvSpPr>
        <p:spPr>
          <a:xfrm>
            <a:off x="141992" y="617831"/>
            <a:ext cx="11908015" cy="923330"/>
          </a:xfrm>
          <a:prstGeom prst="rect">
            <a:avLst/>
          </a:prstGeom>
          <a:noFill/>
        </p:spPr>
        <p:txBody>
          <a:bodyPr wrap="square" rtlCol="0">
            <a:spAutoFit/>
          </a:bodyPr>
          <a:lstStyle/>
          <a:p>
            <a:r>
              <a:rPr lang="en-US" dirty="0"/>
              <a:t>User Query: Draw a ray diagram for a converging lens where the object is placed between the focal point and the lens. Show the formation of the image.</a:t>
            </a:r>
          </a:p>
          <a:p>
            <a:endParaRPr lang="en-US" dirty="0"/>
          </a:p>
        </p:txBody>
      </p:sp>
      <p:sp>
        <p:nvSpPr>
          <p:cNvPr id="5" name="TextBox 4">
            <a:extLst>
              <a:ext uri="{FF2B5EF4-FFF2-40B4-BE49-F238E27FC236}">
                <a16:creationId xmlns:a16="http://schemas.microsoft.com/office/drawing/2014/main" id="{A24C01C2-8A92-79C1-E027-94E3EA217D01}"/>
              </a:ext>
            </a:extLst>
          </p:cNvPr>
          <p:cNvSpPr txBox="1"/>
          <p:nvPr/>
        </p:nvSpPr>
        <p:spPr>
          <a:xfrm>
            <a:off x="1952504" y="4907312"/>
            <a:ext cx="6158224" cy="2031325"/>
          </a:xfrm>
          <a:prstGeom prst="rect">
            <a:avLst/>
          </a:prstGeom>
          <a:noFill/>
        </p:spPr>
        <p:txBody>
          <a:bodyPr wrap="square" rtlCol="0">
            <a:spAutoFit/>
          </a:bodyPr>
          <a:lstStyle/>
          <a:p>
            <a:r>
              <a:rPr lang="en-US" dirty="0"/>
              <a:t>Model Response: This visualization presents the Atwood Machine setup alongside the individual Free Body Diagrams (FBD) for both masses. The FBDs highlight how tension (T) acts upwards for both, while gravity pulls downwards according to their respective masses, resulting in a coupled acceleration system. </a:t>
            </a:r>
            <a:br>
              <a:rPr lang="en-US" dirty="0"/>
            </a:br>
            <a:endParaRPr lang="en-US" dirty="0"/>
          </a:p>
        </p:txBody>
      </p:sp>
      <p:pic>
        <p:nvPicPr>
          <p:cNvPr id="5122" name="Picture 2">
            <a:extLst>
              <a:ext uri="{FF2B5EF4-FFF2-40B4-BE49-F238E27FC236}">
                <a16:creationId xmlns:a16="http://schemas.microsoft.com/office/drawing/2014/main" id="{61F9C268-2121-56D7-3032-497FBE1479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936" y="1672772"/>
            <a:ext cx="7054014" cy="2956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4214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7FFAC-ABE1-557F-EF76-A203D3FB3DB4}"/>
              </a:ext>
            </a:extLst>
          </p:cNvPr>
          <p:cNvSpPr>
            <a:spLocks noGrp="1"/>
          </p:cNvSpPr>
          <p:nvPr>
            <p:ph type="title"/>
          </p:nvPr>
        </p:nvSpPr>
        <p:spPr/>
        <p:txBody>
          <a:bodyPr/>
          <a:lstStyle/>
          <a:p>
            <a:r>
              <a:rPr lang="en-US" b="1" dirty="0"/>
              <a:t>MATH</a:t>
            </a:r>
          </a:p>
        </p:txBody>
      </p:sp>
    </p:spTree>
    <p:extLst>
      <p:ext uri="{BB962C8B-B14F-4D97-AF65-F5344CB8AC3E}">
        <p14:creationId xmlns:p14="http://schemas.microsoft.com/office/powerpoint/2010/main" val="414604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8694B-765F-8709-FF6A-0EA85C8B0D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0340BF5-BC55-5456-A98C-578C4E26F806}"/>
              </a:ext>
            </a:extLst>
          </p:cNvPr>
          <p:cNvSpPr txBox="1"/>
          <p:nvPr/>
        </p:nvSpPr>
        <p:spPr>
          <a:xfrm>
            <a:off x="283985" y="78335"/>
            <a:ext cx="11908015" cy="1754326"/>
          </a:xfrm>
          <a:prstGeom prst="rect">
            <a:avLst/>
          </a:prstGeom>
          <a:noFill/>
        </p:spPr>
        <p:txBody>
          <a:bodyPr wrap="square" rtlCol="0">
            <a:spAutoFit/>
          </a:bodyPr>
          <a:lstStyle/>
          <a:p>
            <a:r>
              <a:rPr lang="en-US" dirty="0"/>
              <a:t>User Query: Visualize the concept of a Riemann Sum approximation compared to the actual Definite Integral.</a:t>
            </a:r>
          </a:p>
          <a:p>
            <a:r>
              <a:rPr lang="en-US" dirty="0"/>
              <a:t>1. Plot the function f(x) = x^2 * sin(x) from x = 0 to x = 3.</a:t>
            </a:r>
          </a:p>
          <a:p>
            <a:r>
              <a:rPr lang="en-US" dirty="0"/>
              <a:t>2. Show the "Left Endpoint" Riemann Sum using n=6 rectangles.</a:t>
            </a:r>
          </a:p>
          <a:p>
            <a:r>
              <a:rPr lang="en-US" dirty="0"/>
              <a:t>3. Shade the actual area under the curve in a semi-transparent color behind the rectangles.</a:t>
            </a:r>
          </a:p>
          <a:p>
            <a:r>
              <a:rPr lang="en-US" dirty="0"/>
              <a:t>4. Highlight the "error" regions (where rectangles stick out or miss the curve).</a:t>
            </a:r>
          </a:p>
          <a:p>
            <a:endParaRPr lang="en-US" dirty="0"/>
          </a:p>
        </p:txBody>
      </p:sp>
      <p:pic>
        <p:nvPicPr>
          <p:cNvPr id="6148" name="Picture 4">
            <a:extLst>
              <a:ext uri="{FF2B5EF4-FFF2-40B4-BE49-F238E27FC236}">
                <a16:creationId xmlns:a16="http://schemas.microsoft.com/office/drawing/2014/main" id="{2176D832-1BA3-02B7-92BB-CE48FE6008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5611" y="1691639"/>
            <a:ext cx="6854649" cy="4782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783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0CDCE-F4CD-8F3F-8FD3-8EA02880CA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392FCE6-8C22-D074-5BEF-0BDB6F75FBED}"/>
              </a:ext>
            </a:extLst>
          </p:cNvPr>
          <p:cNvSpPr txBox="1"/>
          <p:nvPr/>
        </p:nvSpPr>
        <p:spPr>
          <a:xfrm>
            <a:off x="283985" y="78335"/>
            <a:ext cx="11908015" cy="1754326"/>
          </a:xfrm>
          <a:prstGeom prst="rect">
            <a:avLst/>
          </a:prstGeom>
          <a:noFill/>
        </p:spPr>
        <p:txBody>
          <a:bodyPr wrap="square" rtlCol="0">
            <a:spAutoFit/>
          </a:bodyPr>
          <a:lstStyle/>
          <a:p>
            <a:r>
              <a:rPr lang="en-US" dirty="0"/>
              <a:t>User Query: Visualize the bounded region between two functions to represent the Area Between Curves.</a:t>
            </a:r>
          </a:p>
          <a:p>
            <a:r>
              <a:rPr lang="en-US" dirty="0"/>
              <a:t>1. Function 1: f(x) = -x^2 + 4 (A downward parabola).</a:t>
            </a:r>
          </a:p>
          <a:p>
            <a:r>
              <a:rPr lang="en-US" dirty="0"/>
              <a:t>2. Function 2: g(x) = x + 2 (A straight line).</a:t>
            </a:r>
          </a:p>
          <a:p>
            <a:r>
              <a:rPr lang="en-US" dirty="0"/>
              <a:t>3. Find the visual intersection points.</a:t>
            </a:r>
          </a:p>
          <a:p>
            <a:r>
              <a:rPr lang="en-US" dirty="0"/>
              <a:t>4. Shade ONLY the enclosed region trapped between the parabola and the line.</a:t>
            </a:r>
          </a:p>
          <a:p>
            <a:r>
              <a:rPr lang="en-US" dirty="0"/>
              <a:t>5. Add annotations pointing to the intersection points with their approximate (</a:t>
            </a:r>
            <a:r>
              <a:rPr lang="en-US" dirty="0" err="1"/>
              <a:t>x,y</a:t>
            </a:r>
            <a:r>
              <a:rPr lang="en-US" dirty="0"/>
              <a:t>) coordinates.</a:t>
            </a:r>
          </a:p>
        </p:txBody>
      </p:sp>
      <p:pic>
        <p:nvPicPr>
          <p:cNvPr id="7170" name="Picture 2">
            <a:extLst>
              <a:ext uri="{FF2B5EF4-FFF2-40B4-BE49-F238E27FC236}">
                <a16:creationId xmlns:a16="http://schemas.microsoft.com/office/drawing/2014/main" id="{A59186FB-48BA-A9D0-C531-04C716CD83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832660"/>
            <a:ext cx="6858000" cy="5025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0741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50406-C47B-6295-DAEF-63EB1549561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6BB3D8-9C4B-3BB3-F63E-5539DD755DE8}"/>
              </a:ext>
            </a:extLst>
          </p:cNvPr>
          <p:cNvSpPr txBox="1"/>
          <p:nvPr/>
        </p:nvSpPr>
        <p:spPr>
          <a:xfrm>
            <a:off x="283985" y="78335"/>
            <a:ext cx="11908015" cy="1477328"/>
          </a:xfrm>
          <a:prstGeom prst="rect">
            <a:avLst/>
          </a:prstGeom>
          <a:noFill/>
        </p:spPr>
        <p:txBody>
          <a:bodyPr wrap="square" rtlCol="0">
            <a:spAutoFit/>
          </a:bodyPr>
          <a:lstStyle/>
          <a:p>
            <a:r>
              <a:rPr lang="en-US" dirty="0"/>
              <a:t>Visualize the area of a specific petal in a Polar Coordinate system.</a:t>
            </a:r>
          </a:p>
          <a:p>
            <a:r>
              <a:rPr lang="en-US" dirty="0"/>
              <a:t>1. Plot the Polar Rose curve: r = 4 * cos(3 * theta).</a:t>
            </a:r>
          </a:p>
          <a:p>
            <a:r>
              <a:rPr lang="en-US" dirty="0"/>
              <a:t>2. The plot must use a Polar projection (circular grid).</a:t>
            </a:r>
          </a:p>
          <a:p>
            <a:r>
              <a:rPr lang="en-US" dirty="0"/>
              <a:t>3. Shade exactly ONE petal of the rose (for example, the petal along the positive x-axis).</a:t>
            </a:r>
          </a:p>
          <a:p>
            <a:r>
              <a:rPr lang="en-US" dirty="0"/>
              <a:t>4. Label the plot "Area of One Petal = Integral of 0.5 * r^2 </a:t>
            </a:r>
            <a:r>
              <a:rPr lang="en-US" dirty="0" err="1"/>
              <a:t>d_theta</a:t>
            </a:r>
            <a:r>
              <a:rPr lang="en-US" dirty="0"/>
              <a:t>".</a:t>
            </a:r>
          </a:p>
        </p:txBody>
      </p:sp>
      <p:pic>
        <p:nvPicPr>
          <p:cNvPr id="8194" name="Picture 2">
            <a:extLst>
              <a:ext uri="{FF2B5EF4-FFF2-40B4-BE49-F238E27FC236}">
                <a16:creationId xmlns:a16="http://schemas.microsoft.com/office/drawing/2014/main" id="{92F34758-1382-32F2-77B7-2A813338A8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1312" y="1426464"/>
            <a:ext cx="5500688" cy="5431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9850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982D2-FF24-0470-6C41-ACD711C042D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628C655-621C-A853-FC10-48C55AE2EEEE}"/>
              </a:ext>
            </a:extLst>
          </p:cNvPr>
          <p:cNvSpPr txBox="1"/>
          <p:nvPr/>
        </p:nvSpPr>
        <p:spPr>
          <a:xfrm>
            <a:off x="283985" y="78335"/>
            <a:ext cx="11908015" cy="1477328"/>
          </a:xfrm>
          <a:prstGeom prst="rect">
            <a:avLst/>
          </a:prstGeom>
          <a:noFill/>
        </p:spPr>
        <p:txBody>
          <a:bodyPr wrap="square" rtlCol="0">
            <a:spAutoFit/>
          </a:bodyPr>
          <a:lstStyle/>
          <a:p>
            <a:r>
              <a:rPr lang="en-US" dirty="0"/>
              <a:t>Visualize the "68-95-99.7 Rule" on a Standard Normal Distribution curve.</a:t>
            </a:r>
          </a:p>
          <a:p>
            <a:r>
              <a:rPr lang="en-US" dirty="0"/>
              <a:t>1. Plot a standard Bell Curve (mean=0, std=1).</a:t>
            </a:r>
          </a:p>
          <a:p>
            <a:r>
              <a:rPr lang="en-US" dirty="0"/>
              <a:t>2. Shade the region representing the probability of being within 1 Standard Deviation (-1 to +1 sigma) in Blue.</a:t>
            </a:r>
          </a:p>
          <a:p>
            <a:r>
              <a:rPr lang="en-US" dirty="0"/>
              <a:t>3. Shade the tails beyond 2 Standard Deviations in Red.</a:t>
            </a:r>
          </a:p>
          <a:p>
            <a:r>
              <a:rPr lang="en-US" dirty="0"/>
              <a:t>4. Annotate the Blue region with "68%" and the center line as "Mean = 0".</a:t>
            </a:r>
          </a:p>
        </p:txBody>
      </p:sp>
      <p:pic>
        <p:nvPicPr>
          <p:cNvPr id="9218" name="Picture 2">
            <a:extLst>
              <a:ext uri="{FF2B5EF4-FFF2-40B4-BE49-F238E27FC236}">
                <a16:creationId xmlns:a16="http://schemas.microsoft.com/office/drawing/2014/main" id="{225FD543-AB2A-F6EA-0272-58148EF267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5345" y="1629758"/>
            <a:ext cx="8763952" cy="5228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035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68D89-124A-D539-D00B-78B938656831}"/>
              </a:ext>
            </a:extLst>
          </p:cNvPr>
          <p:cNvSpPr>
            <a:spLocks noGrp="1"/>
          </p:cNvSpPr>
          <p:nvPr>
            <p:ph type="title"/>
          </p:nvPr>
        </p:nvSpPr>
        <p:spPr/>
        <p:txBody>
          <a:bodyPr/>
          <a:lstStyle/>
          <a:p>
            <a:r>
              <a:rPr lang="en-US" b="1" dirty="0"/>
              <a:t>GEOMETRIC REASONING</a:t>
            </a:r>
            <a:r>
              <a:rPr lang="en-US" dirty="0"/>
              <a:t>, Fixing Lazy Prompt</a:t>
            </a:r>
          </a:p>
        </p:txBody>
      </p:sp>
    </p:spTree>
    <p:extLst>
      <p:ext uri="{BB962C8B-B14F-4D97-AF65-F5344CB8AC3E}">
        <p14:creationId xmlns:p14="http://schemas.microsoft.com/office/powerpoint/2010/main" val="1318307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525A1-DD4D-8131-1168-14E2672E6F8B}"/>
              </a:ext>
            </a:extLst>
          </p:cNvPr>
          <p:cNvSpPr>
            <a:spLocks noGrp="1"/>
          </p:cNvSpPr>
          <p:nvPr>
            <p:ph type="title"/>
          </p:nvPr>
        </p:nvSpPr>
        <p:spPr/>
        <p:txBody>
          <a:bodyPr>
            <a:normAutofit/>
          </a:bodyPr>
          <a:lstStyle/>
          <a:p>
            <a:r>
              <a:rPr lang="en-US" dirty="0"/>
              <a:t>show me sin cos and tan on a unit circle diagram</a:t>
            </a:r>
          </a:p>
        </p:txBody>
      </p:sp>
      <p:pic>
        <p:nvPicPr>
          <p:cNvPr id="10242" name="Picture 2">
            <a:extLst>
              <a:ext uri="{FF2B5EF4-FFF2-40B4-BE49-F238E27FC236}">
                <a16:creationId xmlns:a16="http://schemas.microsoft.com/office/drawing/2014/main" id="{B87FAC2C-FD5E-5079-D33F-4790F983CA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0672" y="1027906"/>
            <a:ext cx="5978843" cy="5374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3948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9ED3A-C24F-8066-5829-2D6ED1220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8DE25-55D7-7C68-D119-1D8462E0A5A8}"/>
              </a:ext>
            </a:extLst>
          </p:cNvPr>
          <p:cNvSpPr>
            <a:spLocks noGrp="1"/>
          </p:cNvSpPr>
          <p:nvPr>
            <p:ph type="title"/>
          </p:nvPr>
        </p:nvSpPr>
        <p:spPr/>
        <p:txBody>
          <a:bodyPr>
            <a:normAutofit/>
          </a:bodyPr>
          <a:lstStyle/>
          <a:p>
            <a:r>
              <a:rPr lang="en-US" dirty="0"/>
              <a:t>visual proof of (</a:t>
            </a:r>
            <a:r>
              <a:rPr lang="en-US" dirty="0" err="1"/>
              <a:t>a+b</a:t>
            </a:r>
            <a:r>
              <a:rPr lang="en-US" dirty="0"/>
              <a:t>)^2</a:t>
            </a:r>
          </a:p>
        </p:txBody>
      </p:sp>
      <p:pic>
        <p:nvPicPr>
          <p:cNvPr id="11266" name="Picture 2">
            <a:extLst>
              <a:ext uri="{FF2B5EF4-FFF2-40B4-BE49-F238E27FC236}">
                <a16:creationId xmlns:a16="http://schemas.microsoft.com/office/drawing/2014/main" id="{ABC0D933-58B8-E926-1742-8836E9B40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3284" y="1188720"/>
            <a:ext cx="5169281" cy="5541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9477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04C6A-D3B5-246E-6DB9-E4720D0A3C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FF867C-9B2D-1E06-13A2-7379B99B0BF6}"/>
              </a:ext>
            </a:extLst>
          </p:cNvPr>
          <p:cNvSpPr>
            <a:spLocks noGrp="1"/>
          </p:cNvSpPr>
          <p:nvPr>
            <p:ph type="title"/>
          </p:nvPr>
        </p:nvSpPr>
        <p:spPr/>
        <p:txBody>
          <a:bodyPr>
            <a:normAutofit/>
          </a:bodyPr>
          <a:lstStyle/>
          <a:p>
            <a:r>
              <a:rPr lang="en-US" dirty="0"/>
              <a:t>visualize the infinite series 1/2 + 1/4 + 1/8 + ... using a square</a:t>
            </a:r>
          </a:p>
        </p:txBody>
      </p:sp>
      <p:pic>
        <p:nvPicPr>
          <p:cNvPr id="12290" name="Picture 2">
            <a:extLst>
              <a:ext uri="{FF2B5EF4-FFF2-40B4-BE49-F238E27FC236}">
                <a16:creationId xmlns:a16="http://schemas.microsoft.com/office/drawing/2014/main" id="{1E0013E2-17D6-B138-7FBF-03F7CEEFC2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2240" y="1019155"/>
            <a:ext cx="5324666" cy="5646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3007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24BEF-E661-28DB-7362-AE012D78D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C1B0D-DD70-1A88-00EF-E11580181506}"/>
              </a:ext>
            </a:extLst>
          </p:cNvPr>
          <p:cNvSpPr>
            <a:spLocks noGrp="1"/>
          </p:cNvSpPr>
          <p:nvPr>
            <p:ph type="title"/>
          </p:nvPr>
        </p:nvSpPr>
        <p:spPr>
          <a:xfrm>
            <a:off x="838200" y="365125"/>
            <a:ext cx="6568440" cy="1325563"/>
          </a:xfrm>
        </p:spPr>
        <p:txBody>
          <a:bodyPr>
            <a:normAutofit fontScale="90000"/>
          </a:bodyPr>
          <a:lstStyle/>
          <a:p>
            <a:r>
              <a:rPr lang="en-US" dirty="0"/>
              <a:t>draw the </a:t>
            </a:r>
            <a:r>
              <a:rPr lang="en-US" dirty="0" err="1"/>
              <a:t>pythagorean</a:t>
            </a:r>
            <a:r>
              <a:rPr lang="en-US" dirty="0"/>
              <a:t> theorem with squares attached to each side of the triangle</a:t>
            </a:r>
          </a:p>
        </p:txBody>
      </p:sp>
      <p:pic>
        <p:nvPicPr>
          <p:cNvPr id="13314" name="Picture 2">
            <a:extLst>
              <a:ext uri="{FF2B5EF4-FFF2-40B4-BE49-F238E27FC236}">
                <a16:creationId xmlns:a16="http://schemas.microsoft.com/office/drawing/2014/main" id="{2D08FF12-9856-99DC-0675-29E6746C5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9424" y="759587"/>
            <a:ext cx="4970176" cy="5733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4676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C39E8-2674-E998-4838-C4E3F3D4134E}"/>
              </a:ext>
            </a:extLst>
          </p:cNvPr>
          <p:cNvSpPr>
            <a:spLocks noGrp="1"/>
          </p:cNvSpPr>
          <p:nvPr>
            <p:ph type="title"/>
          </p:nvPr>
        </p:nvSpPr>
        <p:spPr/>
        <p:txBody>
          <a:bodyPr/>
          <a:lstStyle/>
          <a:p>
            <a:r>
              <a:rPr lang="en-US" b="1" dirty="0"/>
              <a:t>CHARTS</a:t>
            </a:r>
          </a:p>
        </p:txBody>
      </p:sp>
    </p:spTree>
    <p:extLst>
      <p:ext uri="{BB962C8B-B14F-4D97-AF65-F5344CB8AC3E}">
        <p14:creationId xmlns:p14="http://schemas.microsoft.com/office/powerpoint/2010/main" val="3413217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F8BEDE-75B0-90B4-76D2-917E177243DC}"/>
              </a:ext>
            </a:extLst>
          </p:cNvPr>
          <p:cNvSpPr>
            <a:spLocks noGrp="1"/>
          </p:cNvSpPr>
          <p:nvPr>
            <p:ph idx="1"/>
          </p:nvPr>
        </p:nvSpPr>
        <p:spPr>
          <a:xfrm>
            <a:off x="630362" y="197993"/>
            <a:ext cx="11183685" cy="1293286"/>
          </a:xfrm>
        </p:spPr>
        <p:txBody>
          <a:bodyPr>
            <a:normAutofit fontScale="47500" lnSpcReduction="20000"/>
          </a:bodyPr>
          <a:lstStyle/>
          <a:p>
            <a:r>
              <a:rPr lang="en-US" dirty="0"/>
              <a:t>Visualize the stock price performance of three tech companies over a year.</a:t>
            </a:r>
          </a:p>
          <a:p>
            <a:r>
              <a:rPr lang="en-US" dirty="0"/>
              <a:t>1. Generate synthetic daily data for "</a:t>
            </a:r>
            <a:r>
              <a:rPr lang="en-US" dirty="0" err="1"/>
              <a:t>TechCorp</a:t>
            </a:r>
            <a:r>
              <a:rPr lang="en-US" dirty="0"/>
              <a:t>" (steady growth), "</a:t>
            </a:r>
            <a:r>
              <a:rPr lang="en-US" dirty="0" err="1"/>
              <a:t>StartUpX</a:t>
            </a:r>
            <a:r>
              <a:rPr lang="en-US" dirty="0"/>
              <a:t>" (volatile), and "</a:t>
            </a:r>
            <a:r>
              <a:rPr lang="en-US" dirty="0" err="1"/>
              <a:t>OldSchool</a:t>
            </a:r>
            <a:r>
              <a:rPr lang="en-US" dirty="0"/>
              <a:t> Inc" (flat).</a:t>
            </a:r>
          </a:p>
          <a:p>
            <a:r>
              <a:rPr lang="en-US" dirty="0"/>
              <a:t>2. Plot them on a single Line Chart with dates on the X-axis.</a:t>
            </a:r>
          </a:p>
          <a:p>
            <a:r>
              <a:rPr lang="en-US" dirty="0"/>
              <a:t>3. Use distinct colors (Green, Red, Blue) and add a legend.</a:t>
            </a:r>
          </a:p>
          <a:p>
            <a:r>
              <a:rPr lang="en-US" dirty="0"/>
              <a:t>4. Highlight the "Max Price" point for </a:t>
            </a:r>
            <a:r>
              <a:rPr lang="en-US" dirty="0" err="1"/>
              <a:t>StartUpX</a:t>
            </a:r>
            <a:r>
              <a:rPr lang="en-US" dirty="0"/>
              <a:t> with a specific annotation.</a:t>
            </a:r>
          </a:p>
          <a:p>
            <a:endParaRPr lang="en-US" dirty="0"/>
          </a:p>
        </p:txBody>
      </p:sp>
      <p:pic>
        <p:nvPicPr>
          <p:cNvPr id="14338" name="Picture 2">
            <a:extLst>
              <a:ext uri="{FF2B5EF4-FFF2-40B4-BE49-F238E27FC236}">
                <a16:creationId xmlns:a16="http://schemas.microsoft.com/office/drawing/2014/main" id="{4956B1AF-B585-2754-E77F-4D48CF243D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6037" y="1491279"/>
            <a:ext cx="9048940" cy="5251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7354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CE0-2294-654C-1057-FB3DC6665D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4154DB-EFE1-6A0E-A1A5-32616EF9BF92}"/>
              </a:ext>
            </a:extLst>
          </p:cNvPr>
          <p:cNvSpPr>
            <a:spLocks noGrp="1"/>
          </p:cNvSpPr>
          <p:nvPr>
            <p:ph idx="1"/>
          </p:nvPr>
        </p:nvSpPr>
        <p:spPr>
          <a:xfrm>
            <a:off x="630362" y="197993"/>
            <a:ext cx="11183685" cy="1293286"/>
          </a:xfrm>
        </p:spPr>
        <p:txBody>
          <a:bodyPr>
            <a:normAutofit fontScale="40000" lnSpcReduction="20000"/>
          </a:bodyPr>
          <a:lstStyle/>
          <a:p>
            <a:r>
              <a:rPr lang="en-US" dirty="0"/>
              <a:t>Visualize the quarterly revenue breakdown of a company by region.</a:t>
            </a:r>
          </a:p>
          <a:p>
            <a:r>
              <a:rPr lang="en-US" dirty="0"/>
              <a:t>1. Create a Stacked Bar Chart for Q1, Q2, Q3, and Q4.</a:t>
            </a:r>
          </a:p>
          <a:p>
            <a:r>
              <a:rPr lang="en-US" dirty="0"/>
              <a:t>2. Each bar should be split into "North America", "Europe", and "Asia".</a:t>
            </a:r>
          </a:p>
          <a:p>
            <a:r>
              <a:rPr lang="en-US" dirty="0"/>
              <a:t>3. Use a cool color palette (Blues/Teals).</a:t>
            </a:r>
          </a:p>
          <a:p>
            <a:r>
              <a:rPr lang="en-US" dirty="0"/>
              <a:t>4. Add data labels inside the segments showing the specific revenue values.</a:t>
            </a:r>
          </a:p>
        </p:txBody>
      </p:sp>
      <p:pic>
        <p:nvPicPr>
          <p:cNvPr id="15364" name="Picture 4">
            <a:extLst>
              <a:ext uri="{FF2B5EF4-FFF2-40B4-BE49-F238E27FC236}">
                <a16:creationId xmlns:a16="http://schemas.microsoft.com/office/drawing/2014/main" id="{4D1E0F98-2C7C-2C32-9E4E-8250938DF3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2453" y="1447511"/>
            <a:ext cx="7762875" cy="5410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659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ED2D5-1E82-22C9-764A-D2FE37CD583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7463D8-8B97-FD1A-7F9A-CF5DC2EFACDA}"/>
              </a:ext>
            </a:extLst>
          </p:cNvPr>
          <p:cNvSpPr>
            <a:spLocks noGrp="1"/>
          </p:cNvSpPr>
          <p:nvPr>
            <p:ph idx="1"/>
          </p:nvPr>
        </p:nvSpPr>
        <p:spPr>
          <a:xfrm>
            <a:off x="630362" y="197993"/>
            <a:ext cx="11183685" cy="1293286"/>
          </a:xfrm>
        </p:spPr>
        <p:txBody>
          <a:bodyPr>
            <a:normAutofit fontScale="40000" lnSpcReduction="20000"/>
          </a:bodyPr>
          <a:lstStyle/>
          <a:p>
            <a:r>
              <a:rPr lang="en-US" dirty="0"/>
              <a:t>Visualize the relationship between Marketing Spend and New User Signups.</a:t>
            </a:r>
          </a:p>
          <a:p>
            <a:r>
              <a:rPr lang="en-US" dirty="0"/>
              <a:t>1. Bar Chart: Monthly Marketing Spend ($) on the left Y-axis.</a:t>
            </a:r>
          </a:p>
          <a:p>
            <a:r>
              <a:rPr lang="en-US" dirty="0"/>
              <a:t>2. Line Chart: Monthly New Users (count) on the right Y-axis.</a:t>
            </a:r>
          </a:p>
          <a:p>
            <a:r>
              <a:rPr lang="en-US" dirty="0"/>
              <a:t>3. Show data for 12 months.</a:t>
            </a:r>
          </a:p>
          <a:p>
            <a:r>
              <a:rPr lang="en-US" dirty="0"/>
              <a:t>4. Clearly label both Y-axes so the viewer knows which scale belongs to which metric.</a:t>
            </a:r>
          </a:p>
        </p:txBody>
      </p:sp>
      <p:pic>
        <p:nvPicPr>
          <p:cNvPr id="17410" name="Picture 2">
            <a:extLst>
              <a:ext uri="{FF2B5EF4-FFF2-40B4-BE49-F238E27FC236}">
                <a16:creationId xmlns:a16="http://schemas.microsoft.com/office/drawing/2014/main" id="{39B24F8D-64EE-A9E8-F67E-ADA3B0FB1C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7557" y="1761363"/>
            <a:ext cx="8262490" cy="4794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2239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401E1-CCCF-090A-E9C0-B41A9C9193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17EB23-92F6-6742-F316-983788DFA6EA}"/>
              </a:ext>
            </a:extLst>
          </p:cNvPr>
          <p:cNvSpPr>
            <a:spLocks noGrp="1"/>
          </p:cNvSpPr>
          <p:nvPr>
            <p:ph idx="1"/>
          </p:nvPr>
        </p:nvSpPr>
        <p:spPr>
          <a:xfrm>
            <a:off x="630362" y="197993"/>
            <a:ext cx="11183685" cy="1293286"/>
          </a:xfrm>
        </p:spPr>
        <p:txBody>
          <a:bodyPr>
            <a:normAutofit fontScale="40000" lnSpcReduction="20000"/>
          </a:bodyPr>
          <a:lstStyle/>
          <a:p>
            <a:r>
              <a:rPr lang="en-US" dirty="0"/>
              <a:t>Visualize the correlation between "Hours Studied" and "Exam Score" for a class of 30 students.</a:t>
            </a:r>
          </a:p>
          <a:p>
            <a:r>
              <a:rPr lang="en-US" dirty="0"/>
              <a:t>1. Generate random scatter data (positive correlation).</a:t>
            </a:r>
          </a:p>
          <a:p>
            <a:r>
              <a:rPr lang="en-US" dirty="0"/>
              <a:t>2. Plot the individual student data points.</a:t>
            </a:r>
          </a:p>
          <a:p>
            <a:r>
              <a:rPr lang="en-US" dirty="0"/>
              <a:t>3. Calculate and draw the "Line of Best Fit" (Linear Regression) in red.</a:t>
            </a:r>
          </a:p>
          <a:p>
            <a:r>
              <a:rPr lang="en-US" dirty="0"/>
              <a:t>4. Color code the points: Green for scores &gt; 90, Blue for the rest.</a:t>
            </a:r>
          </a:p>
        </p:txBody>
      </p:sp>
      <p:pic>
        <p:nvPicPr>
          <p:cNvPr id="18434" name="Picture 2">
            <a:extLst>
              <a:ext uri="{FF2B5EF4-FFF2-40B4-BE49-F238E27FC236}">
                <a16:creationId xmlns:a16="http://schemas.microsoft.com/office/drawing/2014/main" id="{24EEF84E-B9CF-7271-3A99-E6C44FABBF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2873" y="1332357"/>
            <a:ext cx="9071992" cy="5422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252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2B44A-7FF4-6246-84C0-37210FAEA328}"/>
              </a:ext>
            </a:extLst>
          </p:cNvPr>
          <p:cNvSpPr>
            <a:spLocks noGrp="1"/>
          </p:cNvSpPr>
          <p:nvPr>
            <p:ph type="title"/>
          </p:nvPr>
        </p:nvSpPr>
        <p:spPr/>
        <p:txBody>
          <a:bodyPr/>
          <a:lstStyle/>
          <a:p>
            <a:r>
              <a:rPr lang="en-US" b="1" dirty="0"/>
              <a:t>ARCHITECTURE DIAGRAMS AND FLOWCHARTS</a:t>
            </a:r>
          </a:p>
        </p:txBody>
      </p:sp>
    </p:spTree>
    <p:extLst>
      <p:ext uri="{BB962C8B-B14F-4D97-AF65-F5344CB8AC3E}">
        <p14:creationId xmlns:p14="http://schemas.microsoft.com/office/powerpoint/2010/main" val="1272288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12762-EF80-1D80-DAA0-4F6AD79D690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F3528E-9C07-7E91-08BF-D5368FAD7DEB}"/>
              </a:ext>
            </a:extLst>
          </p:cNvPr>
          <p:cNvSpPr>
            <a:spLocks noGrp="1"/>
          </p:cNvSpPr>
          <p:nvPr>
            <p:ph idx="1"/>
          </p:nvPr>
        </p:nvSpPr>
        <p:spPr>
          <a:xfrm>
            <a:off x="630362" y="197993"/>
            <a:ext cx="11183685" cy="1293286"/>
          </a:xfrm>
        </p:spPr>
        <p:txBody>
          <a:bodyPr>
            <a:normAutofit/>
          </a:bodyPr>
          <a:lstStyle/>
          <a:p>
            <a:pPr marL="0" indent="0">
              <a:buNone/>
            </a:pPr>
            <a:r>
              <a:rPr lang="en-US" dirty="0"/>
              <a:t>Map Reduce: Word Count example diagram </a:t>
            </a:r>
          </a:p>
        </p:txBody>
      </p:sp>
      <p:pic>
        <p:nvPicPr>
          <p:cNvPr id="6" name="Picture 5">
            <a:extLst>
              <a:ext uri="{FF2B5EF4-FFF2-40B4-BE49-F238E27FC236}">
                <a16:creationId xmlns:a16="http://schemas.microsoft.com/office/drawing/2014/main" id="{4981B63A-7693-2FB9-2EE6-AEB849817332}"/>
              </a:ext>
            </a:extLst>
          </p:cNvPr>
          <p:cNvPicPr>
            <a:picLocks noChangeAspect="1"/>
          </p:cNvPicPr>
          <p:nvPr/>
        </p:nvPicPr>
        <p:blipFill>
          <a:blip r:embed="rId2"/>
          <a:stretch>
            <a:fillRect/>
          </a:stretch>
        </p:blipFill>
        <p:spPr>
          <a:xfrm>
            <a:off x="811673" y="653225"/>
            <a:ext cx="10568654" cy="6204775"/>
          </a:xfrm>
          <a:prstGeom prst="rect">
            <a:avLst/>
          </a:prstGeom>
        </p:spPr>
      </p:pic>
    </p:spTree>
    <p:extLst>
      <p:ext uri="{BB962C8B-B14F-4D97-AF65-F5344CB8AC3E}">
        <p14:creationId xmlns:p14="http://schemas.microsoft.com/office/powerpoint/2010/main" val="1731600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CE70-2C74-7149-1C2B-6359CF91D0A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B7F2D0-3889-3D69-A0E0-3A50A736F8F7}"/>
              </a:ext>
            </a:extLst>
          </p:cNvPr>
          <p:cNvSpPr>
            <a:spLocks noGrp="1"/>
          </p:cNvSpPr>
          <p:nvPr>
            <p:ph idx="1"/>
          </p:nvPr>
        </p:nvSpPr>
        <p:spPr>
          <a:xfrm>
            <a:off x="630362" y="197993"/>
            <a:ext cx="11183685" cy="1293286"/>
          </a:xfrm>
        </p:spPr>
        <p:txBody>
          <a:bodyPr>
            <a:normAutofit/>
          </a:bodyPr>
          <a:lstStyle/>
          <a:p>
            <a:pPr marL="0" indent="0">
              <a:buNone/>
            </a:pPr>
            <a:r>
              <a:rPr lang="en-US" dirty="0"/>
              <a:t>Map Reduce: Reduce Side Join example diagram </a:t>
            </a:r>
          </a:p>
        </p:txBody>
      </p:sp>
      <p:pic>
        <p:nvPicPr>
          <p:cNvPr id="4" name="Picture 3">
            <a:extLst>
              <a:ext uri="{FF2B5EF4-FFF2-40B4-BE49-F238E27FC236}">
                <a16:creationId xmlns:a16="http://schemas.microsoft.com/office/drawing/2014/main" id="{DFDF6667-40AE-81D9-C0F8-00F755FC4DF9}"/>
              </a:ext>
            </a:extLst>
          </p:cNvPr>
          <p:cNvPicPr>
            <a:picLocks noChangeAspect="1"/>
          </p:cNvPicPr>
          <p:nvPr/>
        </p:nvPicPr>
        <p:blipFill>
          <a:blip r:embed="rId2"/>
          <a:stretch>
            <a:fillRect/>
          </a:stretch>
        </p:blipFill>
        <p:spPr>
          <a:xfrm>
            <a:off x="961880" y="668523"/>
            <a:ext cx="10520647" cy="6189477"/>
          </a:xfrm>
          <a:prstGeom prst="rect">
            <a:avLst/>
          </a:prstGeom>
        </p:spPr>
      </p:pic>
    </p:spTree>
    <p:extLst>
      <p:ext uri="{BB962C8B-B14F-4D97-AF65-F5344CB8AC3E}">
        <p14:creationId xmlns:p14="http://schemas.microsoft.com/office/powerpoint/2010/main" val="2797788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F123-D253-6B31-1468-877E40F51ED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8A2503-7CC8-2FCA-DA49-F443FA64A7E4}"/>
              </a:ext>
            </a:extLst>
          </p:cNvPr>
          <p:cNvSpPr>
            <a:spLocks noGrp="1"/>
          </p:cNvSpPr>
          <p:nvPr>
            <p:ph idx="1"/>
          </p:nvPr>
        </p:nvSpPr>
        <p:spPr>
          <a:xfrm>
            <a:off x="630362" y="197993"/>
            <a:ext cx="11183685" cy="1293286"/>
          </a:xfrm>
        </p:spPr>
        <p:txBody>
          <a:bodyPr>
            <a:normAutofit/>
          </a:bodyPr>
          <a:lstStyle/>
          <a:p>
            <a:pPr marL="0" indent="0">
              <a:buNone/>
            </a:pPr>
            <a:r>
              <a:rPr lang="en-US" dirty="0"/>
              <a:t>Architecture Diagram for “Visual Learning”</a:t>
            </a:r>
          </a:p>
        </p:txBody>
      </p:sp>
      <p:pic>
        <p:nvPicPr>
          <p:cNvPr id="5" name="Picture 4">
            <a:extLst>
              <a:ext uri="{FF2B5EF4-FFF2-40B4-BE49-F238E27FC236}">
                <a16:creationId xmlns:a16="http://schemas.microsoft.com/office/drawing/2014/main" id="{130A1F7D-77B2-8098-F96E-856E12850F4C}"/>
              </a:ext>
            </a:extLst>
          </p:cNvPr>
          <p:cNvPicPr>
            <a:picLocks noChangeAspect="1"/>
          </p:cNvPicPr>
          <p:nvPr/>
        </p:nvPicPr>
        <p:blipFill>
          <a:blip r:embed="rId2"/>
          <a:stretch>
            <a:fillRect/>
          </a:stretch>
        </p:blipFill>
        <p:spPr>
          <a:xfrm>
            <a:off x="1339121" y="930123"/>
            <a:ext cx="9313639" cy="5459943"/>
          </a:xfrm>
          <a:prstGeom prst="rect">
            <a:avLst/>
          </a:prstGeom>
        </p:spPr>
      </p:pic>
    </p:spTree>
    <p:extLst>
      <p:ext uri="{BB962C8B-B14F-4D97-AF65-F5344CB8AC3E}">
        <p14:creationId xmlns:p14="http://schemas.microsoft.com/office/powerpoint/2010/main" val="3899959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A03A1-8060-3270-7400-FF5F90ACC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4F72E-FAC6-74AB-7D29-7E532B277D6A}"/>
              </a:ext>
            </a:extLst>
          </p:cNvPr>
          <p:cNvSpPr>
            <a:spLocks noGrp="1"/>
          </p:cNvSpPr>
          <p:nvPr>
            <p:ph type="title"/>
          </p:nvPr>
        </p:nvSpPr>
        <p:spPr/>
        <p:txBody>
          <a:bodyPr>
            <a:normAutofit/>
          </a:bodyPr>
          <a:lstStyle/>
          <a:p>
            <a:r>
              <a:rPr lang="en-US" b="1" dirty="0"/>
              <a:t>What's Next - Phase 5 (Complex Data Structures)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BAABE55-B9A3-BEAB-0296-4298928B9E78}"/>
                  </a:ext>
                </a:extLst>
              </p:cNvPr>
              <p:cNvSpPr>
                <a:spLocks noGrp="1"/>
              </p:cNvSpPr>
              <p:nvPr>
                <p:ph idx="1"/>
              </p:nvPr>
            </p:nvSpPr>
            <p:spPr/>
            <p:txBody>
              <a:bodyPr>
                <a:normAutofit lnSpcReduction="10000"/>
              </a:bodyPr>
              <a:lstStyle/>
              <a:p>
                <a:r>
                  <a:rPr lang="en-US" sz="2000" b="1" dirty="0"/>
                  <a:t>Objective:</a:t>
                </a:r>
                <a:r>
                  <a:rPr lang="en-US" sz="2000" dirty="0"/>
                  <a:t> Extending the generation engine to handle </a:t>
                </a:r>
                <a:r>
                  <a:rPr lang="en-US" sz="2000" b="1" dirty="0"/>
                  <a:t>Multi-State Visualizations</a:t>
                </a:r>
                <a:r>
                  <a:rPr lang="en-US" sz="2000" dirty="0"/>
                  <a:t>. The focus shifts from static plots to showing structural relationships and "Before/After" state changes.</a:t>
                </a:r>
              </a:p>
              <a:p>
                <a:r>
                  <a:rPr lang="en-US" sz="2000" b="1" dirty="0"/>
                  <a:t>Key Technical Modules:</a:t>
                </a:r>
                <a:endParaRPr lang="en-US" sz="2000" dirty="0"/>
              </a:p>
              <a:p>
                <a:r>
                  <a:rPr lang="en-US" sz="2000" b="1" dirty="0"/>
                  <a:t>Linear &amp; Memory Structures:</a:t>
                </a:r>
                <a:endParaRPr lang="en-US" sz="2000" dirty="0"/>
              </a:p>
              <a:p>
                <a:pPr lvl="1"/>
                <a:r>
                  <a:rPr lang="en-US" sz="1800" b="1" dirty="0"/>
                  <a:t>Arrays &amp; Linked Lists:</a:t>
                </a:r>
                <a:r>
                  <a:rPr lang="en-US" sz="1800" dirty="0"/>
                  <a:t> Visualizing memory index shifts and pointer updates during Insertion/Deletion operations.</a:t>
                </a:r>
              </a:p>
              <a:p>
                <a:pPr lvl="1"/>
                <a:r>
                  <a:rPr lang="en-US" sz="1800" b="1" dirty="0"/>
                  <a:t>Stacks/Queues:</a:t>
                </a:r>
                <a:r>
                  <a:rPr lang="en-US" sz="1800" dirty="0"/>
                  <a:t> Visualizing LIFO/FIFO state changes and stack frame operations.</a:t>
                </a:r>
              </a:p>
              <a:p>
                <a:r>
                  <a:rPr lang="en-US" sz="2000" b="1" dirty="0"/>
                  <a:t>Hierarchical Layouts:</a:t>
                </a:r>
                <a:endParaRPr lang="en-US" sz="2000" dirty="0"/>
              </a:p>
              <a:p>
                <a:pPr lvl="1"/>
                <a:r>
                  <a:rPr lang="en-US" sz="1800" b="1" dirty="0"/>
                  <a:t>Trees (BST/AVL/Tries):</a:t>
                </a:r>
                <a:r>
                  <a:rPr lang="en-US" sz="1800" dirty="0"/>
                  <a:t> Implementing collision-free auto-layout algorithms for dynamic node insertion and balancing.</a:t>
                </a:r>
              </a:p>
              <a:p>
                <a:pPr lvl="1"/>
                <a:r>
                  <a:rPr lang="en-US" sz="1800" b="1" dirty="0"/>
                  <a:t>Heaps:</a:t>
                </a:r>
                <a:r>
                  <a:rPr lang="en-US" sz="1800" dirty="0"/>
                  <a:t> Visualizing priority queue re-ordering (</a:t>
                </a:r>
                <a:r>
                  <a:rPr lang="en-US" sz="1800" dirty="0" err="1"/>
                  <a:t>Heapify</a:t>
                </a:r>
                <a:r>
                  <a:rPr lang="en-US" sz="1800" dirty="0"/>
                  <a:t> up/down).</a:t>
                </a:r>
              </a:p>
              <a:p>
                <a:r>
                  <a:rPr lang="en-US" sz="2000" b="1" dirty="0"/>
                  <a:t>Deep Learning Topologies (Static):</a:t>
                </a:r>
                <a:endParaRPr lang="en-US" sz="2000" dirty="0"/>
              </a:p>
              <a:p>
                <a:pPr lvl="1"/>
                <a:r>
                  <a:rPr lang="en-US" sz="1800" b="1" dirty="0"/>
                  <a:t>Neural Architectures:</a:t>
                </a:r>
                <a:r>
                  <a:rPr lang="en-US" sz="1800" dirty="0"/>
                  <a:t> Visualizing dense and convolutional network topologies (Input </a:t>
                </a:r>
                <a14:m>
                  <m:oMath xmlns:m="http://schemas.openxmlformats.org/officeDocument/2006/math">
                    <m:r>
                      <a:rPr lang="en-US" sz="1800"/>
                      <m:t>→</m:t>
                    </m:r>
                  </m:oMath>
                </a14:m>
                <a:r>
                  <a:rPr lang="en-US" sz="1800" dirty="0"/>
                  <a:t>Hidden</a:t>
                </a:r>
                <a14:m>
                  <m:oMath xmlns:m="http://schemas.openxmlformats.org/officeDocument/2006/math">
                    <m:r>
                      <a:rPr lang="en-US" sz="1800"/>
                      <m:t>→</m:t>
                    </m:r>
                  </m:oMath>
                </a14:m>
                <a:r>
                  <a:rPr lang="en-US" sz="1800" dirty="0"/>
                  <a:t>Output layers) based on user-defined parameters.</a:t>
                </a:r>
              </a:p>
            </p:txBody>
          </p:sp>
        </mc:Choice>
        <mc:Fallback>
          <p:sp>
            <p:nvSpPr>
              <p:cNvPr id="3" name="Content Placeholder 2">
                <a:extLst>
                  <a:ext uri="{FF2B5EF4-FFF2-40B4-BE49-F238E27FC236}">
                    <a16:creationId xmlns:a16="http://schemas.microsoft.com/office/drawing/2014/main" id="{5BAABE55-B9A3-BEAB-0296-4298928B9E78}"/>
                  </a:ext>
                </a:extLst>
              </p:cNvPr>
              <p:cNvSpPr>
                <a:spLocks noGrp="1" noRot="1" noChangeAspect="1" noMove="1" noResize="1" noEditPoints="1" noAdjustHandles="1" noChangeArrowheads="1" noChangeShapeType="1" noTextEdit="1"/>
              </p:cNvSpPr>
              <p:nvPr>
                <p:ph idx="1"/>
              </p:nvPr>
            </p:nvSpPr>
            <p:spPr>
              <a:blipFill>
                <a:blip r:embed="rId2"/>
                <a:stretch>
                  <a:fillRect l="-522" t="-1821" r="-174"/>
                </a:stretch>
              </a:blipFill>
            </p:spPr>
            <p:txBody>
              <a:bodyPr/>
              <a:lstStyle/>
              <a:p>
                <a:r>
                  <a:rPr lang="en-US">
                    <a:noFill/>
                  </a:rPr>
                  <a:t> </a:t>
                </a:r>
              </a:p>
            </p:txBody>
          </p:sp>
        </mc:Fallback>
      </mc:AlternateContent>
    </p:spTree>
    <p:extLst>
      <p:ext uri="{BB962C8B-B14F-4D97-AF65-F5344CB8AC3E}">
        <p14:creationId xmlns:p14="http://schemas.microsoft.com/office/powerpoint/2010/main" val="19952279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F26BE-8664-683C-1468-49C23041E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70A53-0EF0-5F90-C459-2E401F07E6D5}"/>
              </a:ext>
            </a:extLst>
          </p:cNvPr>
          <p:cNvSpPr>
            <a:spLocks noGrp="1"/>
          </p:cNvSpPr>
          <p:nvPr>
            <p:ph type="title"/>
          </p:nvPr>
        </p:nvSpPr>
        <p:spPr/>
        <p:txBody>
          <a:bodyPr>
            <a:normAutofit/>
          </a:bodyPr>
          <a:lstStyle/>
          <a:p>
            <a:r>
              <a:rPr lang="en-US" b="1" dirty="0"/>
              <a:t>What's Next - Phase 6 (Algorithms &amp; Animation)</a:t>
            </a:r>
          </a:p>
        </p:txBody>
      </p:sp>
      <p:sp>
        <p:nvSpPr>
          <p:cNvPr id="3" name="Content Placeholder 2">
            <a:extLst>
              <a:ext uri="{FF2B5EF4-FFF2-40B4-BE49-F238E27FC236}">
                <a16:creationId xmlns:a16="http://schemas.microsoft.com/office/drawing/2014/main" id="{F215FA02-E4FE-DDEA-671A-AF818DA664A5}"/>
              </a:ext>
            </a:extLst>
          </p:cNvPr>
          <p:cNvSpPr>
            <a:spLocks noGrp="1"/>
          </p:cNvSpPr>
          <p:nvPr>
            <p:ph idx="1"/>
          </p:nvPr>
        </p:nvSpPr>
        <p:spPr/>
        <p:txBody>
          <a:bodyPr>
            <a:normAutofit fontScale="85000" lnSpcReduction="20000"/>
          </a:bodyPr>
          <a:lstStyle/>
          <a:p>
            <a:r>
              <a:rPr lang="en-US" b="1" dirty="0"/>
              <a:t>Objective:</a:t>
            </a:r>
            <a:r>
              <a:rPr lang="en-US" dirty="0"/>
              <a:t> Introducing </a:t>
            </a:r>
            <a:r>
              <a:rPr lang="en-US" b="1" dirty="0"/>
              <a:t>Time &amp; Motion</a:t>
            </a:r>
            <a:r>
              <a:rPr lang="en-US" dirty="0"/>
              <a:t>. Visualizing the </a:t>
            </a:r>
            <a:r>
              <a:rPr lang="en-US" i="1" dirty="0"/>
              <a:t>execution flow</a:t>
            </a:r>
            <a:r>
              <a:rPr lang="en-US" dirty="0"/>
              <a:t> of an algorithm step-by-step using frame-by-frame generation or client-side animation libraries.</a:t>
            </a:r>
          </a:p>
          <a:p>
            <a:r>
              <a:rPr lang="en-US" b="1" dirty="0"/>
              <a:t>Key Technical Modules:</a:t>
            </a:r>
            <a:endParaRPr lang="en-US" dirty="0"/>
          </a:p>
          <a:p>
            <a:r>
              <a:rPr lang="en-US" b="1" dirty="0"/>
              <a:t>Sorting &amp; Searching:</a:t>
            </a:r>
            <a:endParaRPr lang="en-US" dirty="0"/>
          </a:p>
          <a:p>
            <a:pPr lvl="1"/>
            <a:r>
              <a:rPr lang="en-US" b="1" dirty="0"/>
              <a:t>Visualizers:</a:t>
            </a:r>
            <a:r>
              <a:rPr lang="en-US" dirty="0"/>
              <a:t> Visualizing comparison logic (Merge/Quick Sort) and search space reduction (Binary Search) in real-time.</a:t>
            </a:r>
          </a:p>
          <a:p>
            <a:r>
              <a:rPr lang="en-US" b="1" dirty="0"/>
              <a:t>Graph Traversals:</a:t>
            </a:r>
            <a:endParaRPr lang="en-US" dirty="0"/>
          </a:p>
          <a:p>
            <a:pPr lvl="1"/>
            <a:r>
              <a:rPr lang="en-US" b="1" dirty="0"/>
              <a:t>Pathfinding:</a:t>
            </a:r>
            <a:r>
              <a:rPr lang="en-US" dirty="0"/>
              <a:t> Visualizing the "frontier" expansion in grid-based algorithms (Dijkstra/A*).</a:t>
            </a:r>
          </a:p>
          <a:p>
            <a:pPr lvl="1"/>
            <a:r>
              <a:rPr lang="en-US" b="1" dirty="0"/>
              <a:t>Game Theory:</a:t>
            </a:r>
            <a:r>
              <a:rPr lang="en-US" dirty="0"/>
              <a:t> Visualizing decision tree exploration and pruning (Minimax &amp; Alpha-Beta).</a:t>
            </a:r>
          </a:p>
          <a:p>
            <a:r>
              <a:rPr lang="en-US" b="1" dirty="0"/>
              <a:t>Neural Network Dynamics:</a:t>
            </a:r>
            <a:endParaRPr lang="en-US" dirty="0"/>
          </a:p>
          <a:p>
            <a:pPr lvl="1"/>
            <a:r>
              <a:rPr lang="en-US" b="1" dirty="0"/>
              <a:t>Feed Forward:</a:t>
            </a:r>
            <a:r>
              <a:rPr lang="en-US" dirty="0"/>
              <a:t> Visualizing signal propagation and activation functions.</a:t>
            </a:r>
          </a:p>
          <a:p>
            <a:pPr lvl="1"/>
            <a:r>
              <a:rPr lang="en-US" b="1" dirty="0"/>
              <a:t>Backpropagation:</a:t>
            </a:r>
            <a:r>
              <a:rPr lang="en-US" dirty="0"/>
              <a:t> Visualizing the mathematical Gradient Descent, error calculation, and weight updates.</a:t>
            </a:r>
          </a:p>
        </p:txBody>
      </p:sp>
    </p:spTree>
    <p:extLst>
      <p:ext uri="{BB962C8B-B14F-4D97-AF65-F5344CB8AC3E}">
        <p14:creationId xmlns:p14="http://schemas.microsoft.com/office/powerpoint/2010/main" val="3249922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CA13D-36F7-2AE9-6836-DF74809197F9}"/>
              </a:ext>
            </a:extLst>
          </p:cNvPr>
          <p:cNvSpPr>
            <a:spLocks noGrp="1"/>
          </p:cNvSpPr>
          <p:nvPr>
            <p:ph type="title"/>
          </p:nvPr>
        </p:nvSpPr>
        <p:spPr/>
        <p:txBody>
          <a:bodyPr/>
          <a:lstStyle/>
          <a:p>
            <a:r>
              <a:rPr lang="en-US" b="1" dirty="0"/>
              <a:t>Roadmap &amp; Resource Allocation</a:t>
            </a:r>
            <a:endParaRPr lang="en-US" dirty="0"/>
          </a:p>
        </p:txBody>
      </p:sp>
      <p:sp>
        <p:nvSpPr>
          <p:cNvPr id="3" name="Content Placeholder 2">
            <a:extLst>
              <a:ext uri="{FF2B5EF4-FFF2-40B4-BE49-F238E27FC236}">
                <a16:creationId xmlns:a16="http://schemas.microsoft.com/office/drawing/2014/main" id="{BA738D48-1463-AF9C-4063-ADADFEF34C9E}"/>
              </a:ext>
            </a:extLst>
          </p:cNvPr>
          <p:cNvSpPr>
            <a:spLocks noGrp="1"/>
          </p:cNvSpPr>
          <p:nvPr>
            <p:ph idx="1"/>
          </p:nvPr>
        </p:nvSpPr>
        <p:spPr>
          <a:xfrm>
            <a:off x="618744" y="1825625"/>
            <a:ext cx="5257800" cy="4351338"/>
          </a:xfrm>
        </p:spPr>
        <p:txBody>
          <a:bodyPr>
            <a:normAutofit fontScale="92500"/>
          </a:bodyPr>
          <a:lstStyle/>
          <a:p>
            <a:pPr marL="0" indent="0">
              <a:buNone/>
            </a:pPr>
            <a:r>
              <a:rPr lang="en-US" sz="1400" b="1" dirty="0"/>
              <a:t>Current Status:</a:t>
            </a:r>
            <a:endParaRPr lang="en-US" sz="1400" dirty="0"/>
          </a:p>
          <a:p>
            <a:pPr marL="0" indent="0">
              <a:buNone/>
            </a:pPr>
            <a:r>
              <a:rPr lang="en-US" sz="1400" b="1" dirty="0"/>
              <a:t>Backend Core:</a:t>
            </a:r>
            <a:r>
              <a:rPr lang="en-US" sz="1400" dirty="0"/>
              <a:t> Validated (Visual Generation Engine is functional).</a:t>
            </a:r>
          </a:p>
          <a:p>
            <a:pPr marL="0" indent="0">
              <a:buNone/>
            </a:pPr>
            <a:r>
              <a:rPr lang="en-US" sz="1400" b="1" dirty="0"/>
              <a:t>Infrastructure:</a:t>
            </a:r>
            <a:r>
              <a:rPr lang="en-US" sz="1400" dirty="0"/>
              <a:t> Server-side testing complete; Structured Output logic proven.</a:t>
            </a:r>
          </a:p>
          <a:p>
            <a:pPr marL="0" indent="0">
              <a:buNone/>
            </a:pPr>
            <a:r>
              <a:rPr lang="en-US" sz="1400" b="1" dirty="0"/>
              <a:t>Effort Breakdown (Total Estimate: ~300 Hours):</a:t>
            </a:r>
            <a:endParaRPr lang="en-US" sz="1400" dirty="0"/>
          </a:p>
          <a:p>
            <a:pPr marL="0" indent="0">
              <a:buNone/>
            </a:pPr>
            <a:r>
              <a:rPr lang="en-US" sz="1400" b="1" dirty="0"/>
              <a:t>1. Frontend Architecture &amp; Client Integration (60 Hours)</a:t>
            </a:r>
            <a:endParaRPr lang="en-US" sz="1400" dirty="0"/>
          </a:p>
          <a:p>
            <a:pPr marL="0" indent="0">
              <a:buNone/>
            </a:pPr>
            <a:r>
              <a:rPr lang="en-US" sz="1400" dirty="0"/>
              <a:t>Developing the User Interface (React/Next.js) to replace current server-side testing.</a:t>
            </a:r>
          </a:p>
          <a:p>
            <a:pPr marL="0" indent="0">
              <a:buNone/>
            </a:pPr>
            <a:r>
              <a:rPr lang="en-US" sz="1400" dirty="0"/>
              <a:t>Building the rendering engine to display dynamic SVGs/Canvas elements alongside text explanations.</a:t>
            </a:r>
          </a:p>
          <a:p>
            <a:pPr marL="0" indent="0">
              <a:buNone/>
            </a:pPr>
            <a:r>
              <a:rPr lang="en-US" sz="1400" dirty="0"/>
              <a:t>Implementing State Management for user sessions and history.</a:t>
            </a:r>
          </a:p>
          <a:p>
            <a:pPr marL="0" indent="0">
              <a:buNone/>
            </a:pPr>
            <a:r>
              <a:rPr lang="en-US" sz="1400" b="1" dirty="0"/>
              <a:t>2. Phase 5 Implementation: Data Structures Engine (80 Hours)</a:t>
            </a:r>
            <a:endParaRPr lang="en-US" sz="1400" dirty="0"/>
          </a:p>
          <a:p>
            <a:pPr marL="0" indent="0">
              <a:buNone/>
            </a:pPr>
            <a:r>
              <a:rPr lang="en-US" sz="1400" dirty="0"/>
              <a:t>Engineering backend logic for </a:t>
            </a:r>
            <a:r>
              <a:rPr lang="en-US" sz="1400" b="1" dirty="0"/>
              <a:t>Multi-State Visualizations</a:t>
            </a:r>
            <a:r>
              <a:rPr lang="en-US" sz="1400" dirty="0"/>
              <a:t> (Snapshots).</a:t>
            </a:r>
          </a:p>
          <a:p>
            <a:pPr marL="0" indent="0">
              <a:buNone/>
            </a:pPr>
            <a:r>
              <a:rPr lang="en-US" sz="1400" dirty="0"/>
              <a:t>Implementing coordinate geometry logic for collision-free Tree/Graph layouts.</a:t>
            </a:r>
          </a:p>
          <a:p>
            <a:pPr marL="0" indent="0">
              <a:buNone/>
            </a:pPr>
            <a:r>
              <a:rPr lang="en-US" sz="1400" dirty="0"/>
              <a:t>Developing visual schemas for Neural Network topologies.</a:t>
            </a:r>
          </a:p>
        </p:txBody>
      </p:sp>
      <p:sp>
        <p:nvSpPr>
          <p:cNvPr id="4" name="TextBox 3">
            <a:extLst>
              <a:ext uri="{FF2B5EF4-FFF2-40B4-BE49-F238E27FC236}">
                <a16:creationId xmlns:a16="http://schemas.microsoft.com/office/drawing/2014/main" id="{7C107F0B-0B9F-ED39-9B40-9029F616CCC3}"/>
              </a:ext>
            </a:extLst>
          </p:cNvPr>
          <p:cNvSpPr txBox="1"/>
          <p:nvPr/>
        </p:nvSpPr>
        <p:spPr>
          <a:xfrm>
            <a:off x="5976837" y="1975104"/>
            <a:ext cx="5681763" cy="2492990"/>
          </a:xfrm>
          <a:prstGeom prst="rect">
            <a:avLst/>
          </a:prstGeom>
          <a:noFill/>
        </p:spPr>
        <p:txBody>
          <a:bodyPr wrap="square" rtlCol="0">
            <a:spAutoFit/>
          </a:bodyPr>
          <a:lstStyle/>
          <a:p>
            <a:r>
              <a:rPr lang="en-US" sz="1300" b="1" dirty="0"/>
              <a:t>3. Phase 6 Implementation: Animation &amp; Algorithms (110 Hours)</a:t>
            </a:r>
            <a:endParaRPr lang="en-US" sz="1300" dirty="0"/>
          </a:p>
          <a:p>
            <a:r>
              <a:rPr lang="en-US" sz="1300" b="1" dirty="0"/>
              <a:t>The Core Challenge:</a:t>
            </a:r>
            <a:r>
              <a:rPr lang="en-US" sz="1300" dirty="0"/>
              <a:t> Developing the frame-by-frame generation logic for algorithms.</a:t>
            </a:r>
          </a:p>
          <a:p>
            <a:r>
              <a:rPr lang="en-US" sz="1300" dirty="0"/>
              <a:t>Implementing "Step-by-Step" flow for Sorting and Pathfinding.</a:t>
            </a:r>
          </a:p>
          <a:p>
            <a:r>
              <a:rPr lang="en-US" sz="1300" dirty="0"/>
              <a:t>Visualizing complex mathematical flows (Backpropagation/Gradient Descent).</a:t>
            </a:r>
          </a:p>
          <a:p>
            <a:endParaRPr lang="en-US" sz="1300" dirty="0"/>
          </a:p>
          <a:p>
            <a:r>
              <a:rPr lang="en-US" sz="1300" b="1" dirty="0"/>
              <a:t>4. Quality Assurance &amp; Optimization (50 Hours)</a:t>
            </a:r>
            <a:endParaRPr lang="en-US" sz="1300" dirty="0"/>
          </a:p>
          <a:p>
            <a:r>
              <a:rPr lang="en-US" sz="1300" dirty="0"/>
              <a:t>Edge-case testing (e.g., Unbalanced trees, complex graph cycles).</a:t>
            </a:r>
          </a:p>
          <a:p>
            <a:r>
              <a:rPr lang="en-US" sz="1300" dirty="0"/>
              <a:t>Latency optimization and Prompt Tuning for consistent output formats.</a:t>
            </a:r>
          </a:p>
          <a:p>
            <a:r>
              <a:rPr lang="en-US" sz="1300" b="1" dirty="0"/>
              <a:t>Total Projected Effort:</a:t>
            </a:r>
            <a:r>
              <a:rPr lang="en-US" sz="1300" dirty="0"/>
              <a:t> </a:t>
            </a:r>
            <a:r>
              <a:rPr lang="en-US" sz="1300" b="1" dirty="0"/>
              <a:t>300 Development Hours</a:t>
            </a:r>
            <a:endParaRPr lang="en-US" sz="1300" dirty="0"/>
          </a:p>
          <a:p>
            <a:endParaRPr lang="en-US" sz="1300" dirty="0"/>
          </a:p>
        </p:txBody>
      </p:sp>
    </p:spTree>
    <p:extLst>
      <p:ext uri="{BB962C8B-B14F-4D97-AF65-F5344CB8AC3E}">
        <p14:creationId xmlns:p14="http://schemas.microsoft.com/office/powerpoint/2010/main" val="23389107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1814</Words>
  <Application>Microsoft Office PowerPoint</Application>
  <PresentationFormat>Widescreen</PresentationFormat>
  <Paragraphs>117</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Aptos Display</vt:lpstr>
      <vt:lpstr>Arial</vt:lpstr>
      <vt:lpstr>Inter</vt:lpstr>
      <vt:lpstr>Office Theme</vt:lpstr>
      <vt:lpstr> Note: Scope of This Demonstration</vt:lpstr>
      <vt:lpstr>PHYSICS</vt:lpstr>
      <vt:lpstr>PowerPoint Presentation</vt:lpstr>
      <vt:lpstr>PowerPoint Presentation</vt:lpstr>
      <vt:lpstr>PowerPoint Presentation</vt:lpstr>
      <vt:lpstr>PowerPoint Presentation</vt:lpstr>
      <vt:lpstr>PowerPoint Presentation</vt:lpstr>
      <vt:lpstr>MATH</vt:lpstr>
      <vt:lpstr>PowerPoint Presentation</vt:lpstr>
      <vt:lpstr>PowerPoint Presentation</vt:lpstr>
      <vt:lpstr>PowerPoint Presentation</vt:lpstr>
      <vt:lpstr>PowerPoint Presentation</vt:lpstr>
      <vt:lpstr>GEOMETRIC REASONING, Fixing Lazy Prompt</vt:lpstr>
      <vt:lpstr>show me sin cos and tan on a unit circle diagram</vt:lpstr>
      <vt:lpstr>visual proof of (a+b)^2</vt:lpstr>
      <vt:lpstr>visualize the infinite series 1/2 + 1/4 + 1/8 + ... using a square</vt:lpstr>
      <vt:lpstr>draw the pythagorean theorem with squares attached to each side of the triangle</vt:lpstr>
      <vt:lpstr>CHARTS</vt:lpstr>
      <vt:lpstr>PowerPoint Presentation</vt:lpstr>
      <vt:lpstr>PowerPoint Presentation</vt:lpstr>
      <vt:lpstr>PowerPoint Presentation</vt:lpstr>
      <vt:lpstr>PowerPoint Presentation</vt:lpstr>
      <vt:lpstr>ARCHITECTURE DIAGRAMS AND FLOWCHARTS</vt:lpstr>
      <vt:lpstr>PowerPoint Presentation</vt:lpstr>
      <vt:lpstr>PowerPoint Presentation</vt:lpstr>
      <vt:lpstr>PowerPoint Presentation</vt:lpstr>
      <vt:lpstr>What's Next - Phase 5 (Complex Data Structures)</vt:lpstr>
      <vt:lpstr>What's Next - Phase 6 (Algorithms &amp; Animation)</vt:lpstr>
      <vt:lpstr>Roadmap &amp; Resource Allocation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Dlibrary 553</dc:creator>
  <cp:lastModifiedBy>Dlibrary 553</cp:lastModifiedBy>
  <cp:revision>6</cp:revision>
  <dcterms:created xsi:type="dcterms:W3CDTF">2025-12-24T04:16:31Z</dcterms:created>
  <dcterms:modified xsi:type="dcterms:W3CDTF">2025-12-24T06:04:44Z</dcterms:modified>
</cp:coreProperties>
</file>